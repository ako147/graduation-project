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8288000" cy="10287000"/>
  <p:notesSz cx="6858000" cy="9144000"/>
  <p:embeddedFontLst>
    <p:embeddedFont>
      <p:font typeface="Noto Sans T Chinese" panose="02020500000000000000" charset="-120"/>
      <p:regular r:id="rId22"/>
    </p:embeddedFont>
    <p:embeddedFont>
      <p:font typeface="芫荽" panose="02020500000000000000" charset="-120"/>
      <p:regular r:id="rId23"/>
    </p:embeddedFont>
    <p:embeddedFont>
      <p:font typeface="Montserrat" panose="00000500000000000000" pitchFamily="2" charset="0"/>
      <p:regular r:id="rId24"/>
    </p:embeddedFont>
    <p:embeddedFont>
      <p:font typeface="Montserrat Bold" panose="02020500000000000000" charset="0"/>
      <p:regular r:id="rId25"/>
    </p:embeddedFont>
    <p:embeddedFont>
      <p:font typeface="Times New Roman Bold" panose="02020803070505020304" pitchFamily="18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534" y="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1.不同老師、補習班標準不同，回饋時間長。</a:t>
            </a:r>
          </a:p>
          <a:p>
            <a:endParaRPr lang="en-US"/>
          </a:p>
          <a:p>
            <a:r>
              <a:rPr lang="en-US"/>
              <a:t>2.不知道自己法條引用正不正確、</a:t>
            </a:r>
          </a:p>
          <a:p>
            <a:r>
              <a:rPr lang="en-US"/>
              <a:t>論述是否合邏輯。</a:t>
            </a:r>
          </a:p>
          <a:p>
            <a:endParaRPr lang="en-US"/>
          </a:p>
          <a:p>
            <a:r>
              <a:rPr lang="en-US"/>
              <a:t>3.只有答案，無法針對「個人回答」做智能分析。</a:t>
            </a:r>
          </a:p>
          <a:p>
            <a:endParaRPr lang="en-US"/>
          </a:p>
          <a:p>
            <a:r>
              <a:rPr lang="en-US"/>
              <a:t>4.難以判斷關鍵法條是否使用、論理結構是否到位。</a:t>
            </a:r>
          </a:p>
          <a:p>
            <a:endParaRPr lang="en-US"/>
          </a:p>
          <a:p>
            <a:r>
              <a:rPr lang="en-US"/>
              <a:t>5.題庫、答案、法條查詢、評分、紀錄全部分散在不同網站。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一站式整合帶來的效率提升</a:t>
            </a:r>
          </a:p>
          <a:p>
            <a:endParaRPr lang="en-US"/>
          </a:p>
          <a:p>
            <a:r>
              <a:rPr lang="en-US"/>
              <a:t>從「分散式學習」→「集中式智能學習」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41120" y="630515"/>
            <a:ext cx="1464022" cy="588932"/>
            <a:chOff x="0" y="0"/>
            <a:chExt cx="385586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5586" cy="155110"/>
            </a:xfrm>
            <a:custGeom>
              <a:avLst/>
              <a:gdLst/>
              <a:ahLst/>
              <a:cxnLst/>
              <a:rect l="l" t="t" r="r" b="b"/>
              <a:pathLst>
                <a:path w="385586" h="155110">
                  <a:moveTo>
                    <a:pt x="77555" y="0"/>
                  </a:moveTo>
                  <a:lnTo>
                    <a:pt x="308031" y="0"/>
                  </a:lnTo>
                  <a:cubicBezTo>
                    <a:pt x="350864" y="0"/>
                    <a:pt x="385586" y="34722"/>
                    <a:pt x="385586" y="77555"/>
                  </a:cubicBezTo>
                  <a:lnTo>
                    <a:pt x="385586" y="77555"/>
                  </a:lnTo>
                  <a:cubicBezTo>
                    <a:pt x="385586" y="120387"/>
                    <a:pt x="350864" y="155110"/>
                    <a:pt x="308031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85586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79019" y="0"/>
            <a:ext cx="4264059" cy="10287000"/>
            <a:chOff x="0" y="0"/>
            <a:chExt cx="1123044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23044" cy="2709333"/>
            </a:xfrm>
            <a:custGeom>
              <a:avLst/>
              <a:gdLst/>
              <a:ahLst/>
              <a:cxnLst/>
              <a:rect l="l" t="t" r="r" b="b"/>
              <a:pathLst>
                <a:path w="1123044" h="2709333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356180" y="6799497"/>
            <a:ext cx="3892300" cy="2458803"/>
            <a:chOff x="0" y="0"/>
            <a:chExt cx="1025132" cy="6475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5132" cy="647586"/>
            </a:xfrm>
            <a:custGeom>
              <a:avLst/>
              <a:gdLst/>
              <a:ahLst/>
              <a:cxnLst/>
              <a:rect l="l" t="t" r="r" b="b"/>
              <a:pathLst>
                <a:path w="1025132" h="647586">
                  <a:moveTo>
                    <a:pt x="101441" y="0"/>
                  </a:moveTo>
                  <a:lnTo>
                    <a:pt x="923692" y="0"/>
                  </a:lnTo>
                  <a:cubicBezTo>
                    <a:pt x="950595" y="0"/>
                    <a:pt x="976397" y="10687"/>
                    <a:pt x="995421" y="29711"/>
                  </a:cubicBezTo>
                  <a:cubicBezTo>
                    <a:pt x="1014445" y="48735"/>
                    <a:pt x="1025132" y="74537"/>
                    <a:pt x="1025132" y="101441"/>
                  </a:cubicBezTo>
                  <a:lnTo>
                    <a:pt x="1025132" y="546145"/>
                  </a:lnTo>
                  <a:cubicBezTo>
                    <a:pt x="1025132" y="573049"/>
                    <a:pt x="1014445" y="598851"/>
                    <a:pt x="995421" y="617875"/>
                  </a:cubicBezTo>
                  <a:cubicBezTo>
                    <a:pt x="976397" y="636898"/>
                    <a:pt x="950595" y="647586"/>
                    <a:pt x="923692" y="647586"/>
                  </a:cubicBezTo>
                  <a:lnTo>
                    <a:pt x="101441" y="647586"/>
                  </a:lnTo>
                  <a:cubicBezTo>
                    <a:pt x="74537" y="647586"/>
                    <a:pt x="48735" y="636898"/>
                    <a:pt x="29711" y="617875"/>
                  </a:cubicBezTo>
                  <a:cubicBezTo>
                    <a:pt x="10687" y="598851"/>
                    <a:pt x="0" y="573049"/>
                    <a:pt x="0" y="546145"/>
                  </a:cubicBezTo>
                  <a:lnTo>
                    <a:pt x="0" y="101441"/>
                  </a:lnTo>
                  <a:cubicBezTo>
                    <a:pt x="0" y="74537"/>
                    <a:pt x="10687" y="48735"/>
                    <a:pt x="29711" y="29711"/>
                  </a:cubicBezTo>
                  <a:cubicBezTo>
                    <a:pt x="48735" y="10687"/>
                    <a:pt x="74537" y="0"/>
                    <a:pt x="101441" y="0"/>
                  </a:cubicBezTo>
                  <a:close/>
                </a:path>
              </a:pathLst>
            </a:custGeom>
            <a:solidFill>
              <a:srgbClr val="8FA4C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25132" cy="685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64476" y="7123347"/>
            <a:ext cx="3075708" cy="776477"/>
            <a:chOff x="0" y="0"/>
            <a:chExt cx="810063" cy="2045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0063" cy="204504"/>
            </a:xfrm>
            <a:custGeom>
              <a:avLst/>
              <a:gdLst/>
              <a:ahLst/>
              <a:cxnLst/>
              <a:rect l="l" t="t" r="r" b="b"/>
              <a:pathLst>
                <a:path w="810063" h="204504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123018" y="7220989"/>
            <a:ext cx="581194" cy="58119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1049282" y="1761552"/>
            <a:ext cx="2770529" cy="2770529"/>
          </a:xfrm>
          <a:custGeom>
            <a:avLst/>
            <a:gdLst/>
            <a:ahLst/>
            <a:cxnLst/>
            <a:rect l="l" t="t" r="r" b="b"/>
            <a:pathLst>
              <a:path w="2770529" h="2770529">
                <a:moveTo>
                  <a:pt x="0" y="0"/>
                </a:moveTo>
                <a:lnTo>
                  <a:pt x="2770529" y="0"/>
                </a:lnTo>
                <a:lnTo>
                  <a:pt x="2770529" y="2770529"/>
                </a:lnTo>
                <a:lnTo>
                  <a:pt x="0" y="2770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8841449" y="2868413"/>
            <a:ext cx="4574117" cy="9480035"/>
          </a:xfrm>
          <a:custGeom>
            <a:avLst/>
            <a:gdLst/>
            <a:ahLst/>
            <a:cxnLst/>
            <a:rect l="l" t="t" r="r" b="b"/>
            <a:pathLst>
              <a:path w="4574117" h="9480035">
                <a:moveTo>
                  <a:pt x="0" y="0"/>
                </a:moveTo>
                <a:lnTo>
                  <a:pt x="4574116" y="0"/>
                </a:lnTo>
                <a:lnTo>
                  <a:pt x="4574116" y="9480035"/>
                </a:lnTo>
                <a:lnTo>
                  <a:pt x="0" y="948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1356180" y="2094369"/>
            <a:ext cx="9733298" cy="275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5"/>
              </a:lnSpc>
            </a:pPr>
            <a:r>
              <a:rPr lang="en-US" sz="8032" spc="465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What the 法?</a:t>
            </a:r>
          </a:p>
          <a:p>
            <a:pPr algn="l">
              <a:lnSpc>
                <a:spcPts val="11005"/>
              </a:lnSpc>
            </a:pPr>
            <a:r>
              <a:rPr lang="en-US" sz="8032" spc="128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法律擬答系統網站 </a:t>
            </a:r>
          </a:p>
        </p:txBody>
      </p:sp>
      <p:sp>
        <p:nvSpPr>
          <p:cNvPr id="24" name="Freeform 24"/>
          <p:cNvSpPr/>
          <p:nvPr/>
        </p:nvSpPr>
        <p:spPr>
          <a:xfrm>
            <a:off x="13878919" y="3700556"/>
            <a:ext cx="2160637" cy="2160637"/>
          </a:xfrm>
          <a:custGeom>
            <a:avLst/>
            <a:gdLst/>
            <a:ahLst/>
            <a:cxnLst/>
            <a:rect l="l" t="t" r="r" b="b"/>
            <a:pathLst>
              <a:path w="2160637" h="2160637">
                <a:moveTo>
                  <a:pt x="0" y="0"/>
                </a:moveTo>
                <a:lnTo>
                  <a:pt x="2160637" y="0"/>
                </a:lnTo>
                <a:lnTo>
                  <a:pt x="2160637" y="2160636"/>
                </a:lnTo>
                <a:lnTo>
                  <a:pt x="0" y="21606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3742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06241" y="8000324"/>
            <a:ext cx="3192177" cy="97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3"/>
              </a:lnSpc>
            </a:pPr>
            <a:r>
              <a:rPr lang="en-US" sz="2351" spc="98">
                <a:solidFill>
                  <a:srgbClr val="F4F4F4"/>
                </a:solidFill>
                <a:latin typeface="芫荽"/>
                <a:ea typeface="芫荽"/>
                <a:cs typeface="芫荽"/>
                <a:sym typeface="芫荽"/>
              </a:rPr>
              <a:t>資管四乙 11144231</a:t>
            </a:r>
          </a:p>
          <a:p>
            <a:pPr algn="ctr">
              <a:lnSpc>
                <a:spcPts val="3903"/>
              </a:lnSpc>
            </a:pPr>
            <a:r>
              <a:rPr lang="en-US" sz="2351" spc="98">
                <a:solidFill>
                  <a:srgbClr val="F4F4F4"/>
                </a:solidFill>
                <a:latin typeface="芫荽"/>
                <a:ea typeface="芫荽"/>
                <a:cs typeface="芫荽"/>
                <a:sym typeface="芫荽"/>
              </a:rPr>
              <a:t>高嘉駿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62058" y="7313647"/>
            <a:ext cx="2094285" cy="41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851" b="1" spc="193">
                <a:solidFill>
                  <a:srgbClr val="101B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CYIM  B13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42506" y="628301"/>
            <a:ext cx="2969334" cy="588932"/>
            <a:chOff x="0" y="0"/>
            <a:chExt cx="782047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82047" cy="155110"/>
            </a:xfrm>
            <a:custGeom>
              <a:avLst/>
              <a:gdLst/>
              <a:ahLst/>
              <a:cxnLst/>
              <a:rect l="l" t="t" r="r" b="b"/>
              <a:pathLst>
                <a:path w="782047" h="155110">
                  <a:moveTo>
                    <a:pt x="77555" y="0"/>
                  </a:moveTo>
                  <a:lnTo>
                    <a:pt x="704492" y="0"/>
                  </a:lnTo>
                  <a:cubicBezTo>
                    <a:pt x="747324" y="0"/>
                    <a:pt x="782047" y="34722"/>
                    <a:pt x="782047" y="77555"/>
                  </a:cubicBezTo>
                  <a:lnTo>
                    <a:pt x="782047" y="77555"/>
                  </a:lnTo>
                  <a:cubicBezTo>
                    <a:pt x="782047" y="120387"/>
                    <a:pt x="747324" y="155110"/>
                    <a:pt x="70449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8204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11135045" y="2054186"/>
            <a:ext cx="6490689" cy="7521016"/>
            <a:chOff x="0" y="0"/>
            <a:chExt cx="910838" cy="1055424"/>
          </a:xfrm>
        </p:grpSpPr>
        <p:sp>
          <p:nvSpPr>
            <p:cNvPr id="10" name="Freeform 10"/>
            <p:cNvSpPr/>
            <p:nvPr/>
          </p:nvSpPr>
          <p:spPr>
            <a:xfrm flipH="1">
              <a:off x="0" y="0"/>
              <a:ext cx="910838" cy="1055424"/>
            </a:xfrm>
            <a:custGeom>
              <a:avLst/>
              <a:gdLst/>
              <a:ahLst/>
              <a:cxnLst/>
              <a:rect l="l" t="t" r="r" b="b"/>
              <a:pathLst>
                <a:path w="910838" h="1055424">
                  <a:moveTo>
                    <a:pt x="872670" y="0"/>
                  </a:moveTo>
                  <a:lnTo>
                    <a:pt x="38169" y="0"/>
                  </a:lnTo>
                  <a:cubicBezTo>
                    <a:pt x="28046" y="0"/>
                    <a:pt x="18337" y="4021"/>
                    <a:pt x="11179" y="11179"/>
                  </a:cubicBezTo>
                  <a:cubicBezTo>
                    <a:pt x="4021" y="18337"/>
                    <a:pt x="0" y="28046"/>
                    <a:pt x="0" y="38169"/>
                  </a:cubicBezTo>
                  <a:lnTo>
                    <a:pt x="0" y="1017255"/>
                  </a:lnTo>
                  <a:cubicBezTo>
                    <a:pt x="0" y="1038335"/>
                    <a:pt x="17089" y="1055424"/>
                    <a:pt x="38169" y="1055424"/>
                  </a:cubicBezTo>
                  <a:lnTo>
                    <a:pt x="872670" y="1055424"/>
                  </a:lnTo>
                  <a:cubicBezTo>
                    <a:pt x="893750" y="1055424"/>
                    <a:pt x="910838" y="1038335"/>
                    <a:pt x="910838" y="1017255"/>
                  </a:cubicBezTo>
                  <a:lnTo>
                    <a:pt x="910838" y="38169"/>
                  </a:lnTo>
                  <a:cubicBezTo>
                    <a:pt x="910838" y="17089"/>
                    <a:pt x="893750" y="0"/>
                    <a:pt x="872670" y="0"/>
                  </a:cubicBez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84277" y="6939385"/>
            <a:ext cx="3012363" cy="2635818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651797" y="2712425"/>
            <a:ext cx="1703548" cy="170354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184854" y="3245482"/>
            <a:ext cx="637434" cy="63743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5098663" y="6647469"/>
            <a:ext cx="2160637" cy="2160637"/>
          </a:xfrm>
          <a:custGeom>
            <a:avLst/>
            <a:gdLst/>
            <a:ahLst/>
            <a:cxnLst/>
            <a:rect l="l" t="t" r="r" b="b"/>
            <a:pathLst>
              <a:path w="2160637" h="2160637">
                <a:moveTo>
                  <a:pt x="0" y="0"/>
                </a:moveTo>
                <a:lnTo>
                  <a:pt x="2160637" y="0"/>
                </a:lnTo>
                <a:lnTo>
                  <a:pt x="2160637" y="2160637"/>
                </a:lnTo>
                <a:lnTo>
                  <a:pt x="0" y="2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1" name="Freeform 21"/>
          <p:cNvSpPr/>
          <p:nvPr/>
        </p:nvSpPr>
        <p:spPr>
          <a:xfrm>
            <a:off x="9606257" y="5370762"/>
            <a:ext cx="2848703" cy="2848703"/>
          </a:xfrm>
          <a:custGeom>
            <a:avLst/>
            <a:gdLst/>
            <a:ahLst/>
            <a:cxnLst/>
            <a:rect l="l" t="t" r="r" b="b"/>
            <a:pathLst>
              <a:path w="2848703" h="2848703">
                <a:moveTo>
                  <a:pt x="0" y="0"/>
                </a:moveTo>
                <a:lnTo>
                  <a:pt x="2848703" y="0"/>
                </a:lnTo>
                <a:lnTo>
                  <a:pt x="2848703" y="2848703"/>
                </a:lnTo>
                <a:lnTo>
                  <a:pt x="0" y="28487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35386" y="731958"/>
            <a:ext cx="2707623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TABLE OF CONTENT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3742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65416" y="2095543"/>
            <a:ext cx="2202685" cy="1048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sz="8532" spc="-494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目錄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5416" y="3239791"/>
            <a:ext cx="9154180" cy="556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7455"/>
              </a:lnSpc>
              <a:buFont typeface="Arial"/>
              <a:buChar char="•"/>
            </a:pPr>
            <a:r>
              <a:rPr lang="en-US" sz="3500" spc="-22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研究背景與動機</a:t>
            </a:r>
          </a:p>
          <a:p>
            <a:pPr marL="755651" lvl="1" indent="-377825" algn="just">
              <a:lnSpc>
                <a:spcPts val="7455"/>
              </a:lnSpc>
              <a:buFont typeface="Arial"/>
              <a:buChar char="•"/>
            </a:pPr>
            <a:r>
              <a:rPr lang="en-US" sz="3500" spc="-22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系統差異</a:t>
            </a:r>
          </a:p>
          <a:p>
            <a:pPr marL="755651" lvl="1" indent="-377825" algn="just">
              <a:lnSpc>
                <a:spcPts val="7455"/>
              </a:lnSpc>
              <a:buFont typeface="Arial"/>
              <a:buChar char="•"/>
            </a:pPr>
            <a:r>
              <a:rPr lang="en-US" sz="3500" spc="-22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系統貢獻</a:t>
            </a:r>
          </a:p>
          <a:p>
            <a:pPr marL="755651" lvl="1" indent="-377825" algn="just">
              <a:lnSpc>
                <a:spcPts val="7455"/>
              </a:lnSpc>
              <a:buFont typeface="Arial"/>
              <a:buChar char="•"/>
            </a:pPr>
            <a:r>
              <a:rPr lang="en-US" sz="3500" spc="-22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系統架構</a:t>
            </a:r>
          </a:p>
          <a:p>
            <a:pPr marL="755651" lvl="1" indent="-377825" algn="just">
              <a:lnSpc>
                <a:spcPts val="7455"/>
              </a:lnSpc>
              <a:buFont typeface="Arial"/>
              <a:buChar char="•"/>
            </a:pPr>
            <a:r>
              <a:rPr lang="en-US" sz="3500" spc="-22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系統特色</a:t>
            </a:r>
          </a:p>
          <a:p>
            <a:pPr marL="755651" lvl="1" indent="-377825" algn="just">
              <a:lnSpc>
                <a:spcPts val="7455"/>
              </a:lnSpc>
              <a:buFont typeface="Arial"/>
              <a:buChar char="•"/>
            </a:pPr>
            <a:r>
              <a:rPr lang="en-US" sz="3500" spc="-22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結論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1126616" y="2222524"/>
            <a:ext cx="5879177" cy="6812433"/>
            <a:chOff x="0" y="0"/>
            <a:chExt cx="910838" cy="10554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0838" cy="1055424"/>
            </a:xfrm>
            <a:custGeom>
              <a:avLst/>
              <a:gdLst/>
              <a:ahLst/>
              <a:cxnLst/>
              <a:rect l="l" t="t" r="r" b="b"/>
              <a:pathLst>
                <a:path w="910838" h="1055424">
                  <a:moveTo>
                    <a:pt x="42139" y="0"/>
                  </a:moveTo>
                  <a:lnTo>
                    <a:pt x="868699" y="0"/>
                  </a:lnTo>
                  <a:cubicBezTo>
                    <a:pt x="891972" y="0"/>
                    <a:pt x="910838" y="18866"/>
                    <a:pt x="910838" y="42139"/>
                  </a:cubicBezTo>
                  <a:lnTo>
                    <a:pt x="910838" y="1013285"/>
                  </a:lnTo>
                  <a:cubicBezTo>
                    <a:pt x="910838" y="1036558"/>
                    <a:pt x="891972" y="1055424"/>
                    <a:pt x="868699" y="1055424"/>
                  </a:cubicBezTo>
                  <a:lnTo>
                    <a:pt x="42139" y="1055424"/>
                  </a:lnTo>
                  <a:cubicBezTo>
                    <a:pt x="18866" y="1055424"/>
                    <a:pt x="0" y="1036558"/>
                    <a:pt x="0" y="1013285"/>
                  </a:cubicBezTo>
                  <a:lnTo>
                    <a:pt x="0" y="42139"/>
                  </a:lnTo>
                  <a:cubicBezTo>
                    <a:pt x="0" y="18866"/>
                    <a:pt x="18866" y="0"/>
                    <a:pt x="42139" y="0"/>
                  </a:cubicBez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92906" y="1840347"/>
            <a:ext cx="1766394" cy="176639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45629" y="2393069"/>
            <a:ext cx="660949" cy="66094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93622" y="1894837"/>
            <a:ext cx="8978193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19"/>
              </a:lnSpc>
              <a:spcBef>
                <a:spcPct val="0"/>
              </a:spcBef>
            </a:pPr>
            <a:r>
              <a:rPr lang="en-US" sz="5799" spc="-336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 研究背景與動機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7316" y="4053429"/>
            <a:ext cx="9154180" cy="411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3" lvl="1" indent="-334646" algn="just">
              <a:lnSpc>
                <a:spcPts val="6603"/>
              </a:lnSpc>
              <a:buFont typeface="Arial"/>
              <a:buChar char="•"/>
            </a:pPr>
            <a:r>
              <a:rPr lang="en-US" sz="3100" spc="-198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批改成本高、速度慢、標準不一致</a:t>
            </a:r>
          </a:p>
          <a:p>
            <a:pPr marL="669293" lvl="1" indent="-334646" algn="just">
              <a:lnSpc>
                <a:spcPts val="6603"/>
              </a:lnSpc>
              <a:buFont typeface="Arial"/>
              <a:buChar char="•"/>
            </a:pPr>
            <a:r>
              <a:rPr lang="en-US" sz="3100" spc="-198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學生難以判斷是否切中題意</a:t>
            </a:r>
          </a:p>
          <a:p>
            <a:pPr marL="669293" lvl="1" indent="-334646" algn="just">
              <a:lnSpc>
                <a:spcPts val="6603"/>
              </a:lnSpc>
              <a:buFont typeface="Arial"/>
              <a:buChar char="•"/>
            </a:pPr>
            <a:r>
              <a:rPr lang="en-US" sz="3100" spc="-198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網路題庫功能有限</a:t>
            </a:r>
          </a:p>
          <a:p>
            <a:pPr marL="669293" lvl="1" indent="-334646" algn="just">
              <a:lnSpc>
                <a:spcPts val="6603"/>
              </a:lnSpc>
              <a:buFont typeface="Arial"/>
              <a:buChar char="•"/>
            </a:pPr>
            <a:r>
              <a:rPr lang="en-US" sz="3100" spc="-198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ChatGPT 等AI無法針對法律邏輯精準評分</a:t>
            </a:r>
          </a:p>
          <a:p>
            <a:pPr marL="669293" lvl="1" indent="-334646" algn="just">
              <a:lnSpc>
                <a:spcPts val="6603"/>
              </a:lnSpc>
              <a:buFont typeface="Arial"/>
              <a:buChar char="•"/>
            </a:pPr>
            <a:r>
              <a:rPr lang="en-US" sz="3100" spc="-198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學習流程分散在不同網站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2436" y="8446312"/>
            <a:ext cx="7976669" cy="785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455"/>
              </a:lnSpc>
              <a:spcBef>
                <a:spcPct val="0"/>
              </a:spcBef>
            </a:pPr>
            <a:r>
              <a:rPr lang="en-US" sz="3500" u="none" strike="noStrike" spc="-224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這些問題降低學生練習效率、難以進步</a:t>
            </a:r>
            <a:endParaRPr lang="en-US" sz="3500" u="none" strike="noStrike" spc="-224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50430" y="628301"/>
            <a:ext cx="1665830" cy="588932"/>
            <a:chOff x="0" y="0"/>
            <a:chExt cx="438737" cy="1551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u="none" strike="noStrike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2437" y="3182318"/>
            <a:ext cx="12078755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455"/>
              </a:lnSpc>
              <a:spcBef>
                <a:spcPct val="0"/>
              </a:spcBef>
            </a:pPr>
            <a:r>
              <a:rPr lang="en-US" sz="3500" spc="-22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現行法律申論學習的問題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0265" y="341540"/>
            <a:ext cx="17587469" cy="9769438"/>
            <a:chOff x="0" y="0"/>
            <a:chExt cx="4632091" cy="25730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32091" cy="2573021"/>
            </a:xfrm>
            <a:custGeom>
              <a:avLst/>
              <a:gdLst/>
              <a:ahLst/>
              <a:cxnLst/>
              <a:rect l="l" t="t" r="r" b="b"/>
              <a:pathLst>
                <a:path w="4632091" h="2573021">
                  <a:moveTo>
                    <a:pt x="22450" y="0"/>
                  </a:moveTo>
                  <a:lnTo>
                    <a:pt x="4609641" y="0"/>
                  </a:lnTo>
                  <a:cubicBezTo>
                    <a:pt x="4615595" y="0"/>
                    <a:pt x="4621305" y="2365"/>
                    <a:pt x="4625515" y="6575"/>
                  </a:cubicBezTo>
                  <a:cubicBezTo>
                    <a:pt x="4629725" y="10786"/>
                    <a:pt x="4632091" y="16496"/>
                    <a:pt x="4632091" y="22450"/>
                  </a:cubicBezTo>
                  <a:lnTo>
                    <a:pt x="4632091" y="2550571"/>
                  </a:lnTo>
                  <a:cubicBezTo>
                    <a:pt x="4632091" y="2562970"/>
                    <a:pt x="4622039" y="2573021"/>
                    <a:pt x="4609641" y="2573021"/>
                  </a:cubicBezTo>
                  <a:lnTo>
                    <a:pt x="22450" y="2573021"/>
                  </a:lnTo>
                  <a:cubicBezTo>
                    <a:pt x="10051" y="2573021"/>
                    <a:pt x="0" y="2562970"/>
                    <a:pt x="0" y="2550571"/>
                  </a:cubicBezTo>
                  <a:lnTo>
                    <a:pt x="0" y="22450"/>
                  </a:lnTo>
                  <a:cubicBezTo>
                    <a:pt x="0" y="10051"/>
                    <a:pt x="10051" y="0"/>
                    <a:pt x="22450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32091" cy="2611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36419" y="924288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-1014013" y="7723491"/>
            <a:ext cx="2728557" cy="2387487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2168928" y="2975901"/>
          <a:ext cx="14567491" cy="6572251"/>
        </p:xfrm>
        <a:graphic>
          <a:graphicData uri="http://schemas.openxmlformats.org/drawingml/2006/table">
            <a:tbl>
              <a:tblPr/>
              <a:tblGrid>
                <a:gridCol w="3066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5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5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889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項目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現行系統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本系統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889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題目取得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Google、題庫網站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內建法條資料庫，直接開始答題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889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法條查詢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法規資料庫、書本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系統自動比對缺失法條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889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評分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老師、補習班、人為批改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u="none" strike="noStrike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3 秒 AI 評分，標準化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889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回饋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主觀、等待時間長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客觀、即時、可視化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8893">
                <a:tc>
                  <a:txBody>
                    <a:bodyPr/>
                    <a:lstStyle/>
                    <a:p>
                      <a:pPr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弱點分析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需自己整理、難追蹤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AI 自動整理成圖表、建議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8893">
                <a:tc>
                  <a:txBody>
                    <a:bodyPr/>
                    <a:lstStyle/>
                    <a:p>
                      <a:pPr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學習流程分散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多個網站、書籍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51" dirty="0" err="1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全部同一網站即可完成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790575" y="1187188"/>
            <a:ext cx="14346027" cy="96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844"/>
              </a:lnSpc>
              <a:spcBef>
                <a:spcPct val="0"/>
              </a:spcBef>
            </a:pPr>
            <a:r>
              <a:rPr lang="en-US" sz="5603" spc="-324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系統差異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4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50430" y="628301"/>
            <a:ext cx="1665830" cy="588932"/>
            <a:chOff x="0" y="0"/>
            <a:chExt cx="438737" cy="1551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u="none" strike="noStrike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6300" y="1864013"/>
            <a:ext cx="12078755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455"/>
              </a:lnSpc>
              <a:spcBef>
                <a:spcPct val="0"/>
              </a:spcBef>
            </a:pPr>
            <a:r>
              <a:rPr lang="en-US" sz="3500" spc="-22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本系統 vs 現行系統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0265" y="341540"/>
            <a:ext cx="17587469" cy="9769438"/>
            <a:chOff x="0" y="0"/>
            <a:chExt cx="4632091" cy="25730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32091" cy="2573021"/>
            </a:xfrm>
            <a:custGeom>
              <a:avLst/>
              <a:gdLst/>
              <a:ahLst/>
              <a:cxnLst/>
              <a:rect l="l" t="t" r="r" b="b"/>
              <a:pathLst>
                <a:path w="4632091" h="2573021">
                  <a:moveTo>
                    <a:pt x="22450" y="0"/>
                  </a:moveTo>
                  <a:lnTo>
                    <a:pt x="4609641" y="0"/>
                  </a:lnTo>
                  <a:cubicBezTo>
                    <a:pt x="4615595" y="0"/>
                    <a:pt x="4621305" y="2365"/>
                    <a:pt x="4625515" y="6575"/>
                  </a:cubicBezTo>
                  <a:cubicBezTo>
                    <a:pt x="4629725" y="10786"/>
                    <a:pt x="4632091" y="16496"/>
                    <a:pt x="4632091" y="22450"/>
                  </a:cubicBezTo>
                  <a:lnTo>
                    <a:pt x="4632091" y="2550571"/>
                  </a:lnTo>
                  <a:cubicBezTo>
                    <a:pt x="4632091" y="2562970"/>
                    <a:pt x="4622039" y="2573021"/>
                    <a:pt x="4609641" y="2573021"/>
                  </a:cubicBezTo>
                  <a:lnTo>
                    <a:pt x="22450" y="2573021"/>
                  </a:lnTo>
                  <a:cubicBezTo>
                    <a:pt x="10051" y="2573021"/>
                    <a:pt x="0" y="2562970"/>
                    <a:pt x="0" y="2550571"/>
                  </a:cubicBezTo>
                  <a:lnTo>
                    <a:pt x="0" y="22450"/>
                  </a:lnTo>
                  <a:cubicBezTo>
                    <a:pt x="0" y="10051"/>
                    <a:pt x="10051" y="0"/>
                    <a:pt x="22450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32091" cy="2611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06469" y="7095631"/>
            <a:ext cx="14171044" cy="1429748"/>
            <a:chOff x="0" y="0"/>
            <a:chExt cx="1687953" cy="1703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7953" cy="170301"/>
            </a:xfrm>
            <a:custGeom>
              <a:avLst/>
              <a:gdLst/>
              <a:ahLst/>
              <a:cxnLst/>
              <a:rect l="l" t="t" r="r" b="b"/>
              <a:pathLst>
                <a:path w="1687953" h="170301">
                  <a:moveTo>
                    <a:pt x="27862" y="0"/>
                  </a:moveTo>
                  <a:lnTo>
                    <a:pt x="1660090" y="0"/>
                  </a:lnTo>
                  <a:cubicBezTo>
                    <a:pt x="1675478" y="0"/>
                    <a:pt x="1687953" y="12474"/>
                    <a:pt x="1687953" y="27862"/>
                  </a:cubicBezTo>
                  <a:lnTo>
                    <a:pt x="1687953" y="142439"/>
                  </a:lnTo>
                  <a:cubicBezTo>
                    <a:pt x="1687953" y="157827"/>
                    <a:pt x="1675478" y="170301"/>
                    <a:pt x="1660090" y="170301"/>
                  </a:cubicBezTo>
                  <a:lnTo>
                    <a:pt x="27862" y="170301"/>
                  </a:lnTo>
                  <a:cubicBezTo>
                    <a:pt x="12474" y="170301"/>
                    <a:pt x="0" y="157827"/>
                    <a:pt x="0" y="142439"/>
                  </a:cubicBezTo>
                  <a:lnTo>
                    <a:pt x="0" y="27862"/>
                  </a:lnTo>
                  <a:cubicBezTo>
                    <a:pt x="0" y="12474"/>
                    <a:pt x="12474" y="0"/>
                    <a:pt x="27862" y="0"/>
                  </a:cubicBezTo>
                  <a:close/>
                </a:path>
              </a:pathLst>
            </a:custGeom>
            <a:solidFill>
              <a:srgbClr val="8FA4C1">
                <a:alpha val="61961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87953" cy="208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06469" y="3796455"/>
            <a:ext cx="14171044" cy="1429748"/>
            <a:chOff x="0" y="0"/>
            <a:chExt cx="1687953" cy="1703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87953" cy="170301"/>
            </a:xfrm>
            <a:custGeom>
              <a:avLst/>
              <a:gdLst/>
              <a:ahLst/>
              <a:cxnLst/>
              <a:rect l="l" t="t" r="r" b="b"/>
              <a:pathLst>
                <a:path w="1687953" h="170301">
                  <a:moveTo>
                    <a:pt x="27862" y="0"/>
                  </a:moveTo>
                  <a:lnTo>
                    <a:pt x="1660090" y="0"/>
                  </a:lnTo>
                  <a:cubicBezTo>
                    <a:pt x="1675478" y="0"/>
                    <a:pt x="1687953" y="12474"/>
                    <a:pt x="1687953" y="27862"/>
                  </a:cubicBezTo>
                  <a:lnTo>
                    <a:pt x="1687953" y="142439"/>
                  </a:lnTo>
                  <a:cubicBezTo>
                    <a:pt x="1687953" y="157827"/>
                    <a:pt x="1675478" y="170301"/>
                    <a:pt x="1660090" y="170301"/>
                  </a:cubicBezTo>
                  <a:lnTo>
                    <a:pt x="27862" y="170301"/>
                  </a:lnTo>
                  <a:cubicBezTo>
                    <a:pt x="12474" y="170301"/>
                    <a:pt x="0" y="157827"/>
                    <a:pt x="0" y="142439"/>
                  </a:cubicBezTo>
                  <a:lnTo>
                    <a:pt x="0" y="27862"/>
                  </a:lnTo>
                  <a:cubicBezTo>
                    <a:pt x="0" y="12474"/>
                    <a:pt x="12474" y="0"/>
                    <a:pt x="27862" y="0"/>
                  </a:cubicBezTo>
                  <a:close/>
                </a:path>
              </a:pathLst>
            </a:custGeom>
            <a:solidFill>
              <a:srgbClr val="8FA4C1">
                <a:alpha val="61961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87953" cy="208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736419" y="924288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-1014013" y="7723491"/>
            <a:ext cx="2728557" cy="2387487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62407" y="1693928"/>
            <a:ext cx="14346027" cy="96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844"/>
              </a:lnSpc>
              <a:spcBef>
                <a:spcPct val="0"/>
              </a:spcBef>
            </a:pPr>
            <a:r>
              <a:rPr lang="en-US" sz="5603" spc="-324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系統貢獻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9082" y="2447716"/>
            <a:ext cx="12078755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455"/>
              </a:lnSpc>
              <a:spcBef>
                <a:spcPct val="0"/>
              </a:spcBef>
            </a:pPr>
            <a:r>
              <a:rPr lang="en-US" sz="3500" spc="-22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本系統可以解決什麼？　</a:t>
            </a:r>
            <a:r>
              <a:rPr lang="en-US" sz="3500" u="none" strike="noStrike" spc="-22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核心價值：整合式一站式平台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21859" y="9047478"/>
            <a:ext cx="12928867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 spc="-208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本系統可彌補法律學習「高成本」「高主觀性」「低效率」三大痛點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418356" y="4127459"/>
            <a:ext cx="2918905" cy="811111"/>
            <a:chOff x="0" y="0"/>
            <a:chExt cx="503849" cy="1400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3849" cy="140011"/>
            </a:xfrm>
            <a:custGeom>
              <a:avLst/>
              <a:gdLst/>
              <a:ahLst/>
              <a:cxnLst/>
              <a:rect l="l" t="t" r="r" b="b"/>
              <a:pathLst>
                <a:path w="503849" h="140011">
                  <a:moveTo>
                    <a:pt x="70005" y="0"/>
                  </a:moveTo>
                  <a:lnTo>
                    <a:pt x="433844" y="0"/>
                  </a:lnTo>
                  <a:cubicBezTo>
                    <a:pt x="452411" y="0"/>
                    <a:pt x="470217" y="7376"/>
                    <a:pt x="483345" y="20504"/>
                  </a:cubicBezTo>
                  <a:cubicBezTo>
                    <a:pt x="496474" y="33633"/>
                    <a:pt x="503849" y="51439"/>
                    <a:pt x="503849" y="70005"/>
                  </a:cubicBezTo>
                  <a:lnTo>
                    <a:pt x="503849" y="70005"/>
                  </a:lnTo>
                  <a:cubicBezTo>
                    <a:pt x="503849" y="108668"/>
                    <a:pt x="472507" y="140011"/>
                    <a:pt x="433844" y="140011"/>
                  </a:cubicBezTo>
                  <a:lnTo>
                    <a:pt x="70005" y="140011"/>
                  </a:lnTo>
                  <a:cubicBezTo>
                    <a:pt x="31342" y="140011"/>
                    <a:pt x="0" y="108668"/>
                    <a:pt x="0" y="70005"/>
                  </a:cubicBezTo>
                  <a:lnTo>
                    <a:pt x="0" y="70005"/>
                  </a:lnTo>
                  <a:cubicBezTo>
                    <a:pt x="0" y="31342"/>
                    <a:pt x="31342" y="0"/>
                    <a:pt x="700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03849" cy="178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418356" y="4301860"/>
            <a:ext cx="2918905" cy="490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6"/>
              </a:lnSpc>
            </a:pPr>
            <a:r>
              <a:rPr lang="en-US" sz="3460" spc="-245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技術面問題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65030" y="3887533"/>
            <a:ext cx="7053922" cy="1142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8782" lvl="1" indent="-329391" algn="just">
              <a:lnSpc>
                <a:spcPts val="4638"/>
              </a:lnSpc>
              <a:buFont typeface="Arial"/>
              <a:buChar char="•"/>
            </a:pPr>
            <a:r>
              <a:rPr lang="en-US" sz="3051" spc="6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NLP + LEGAL-AI 協助處理法律語意</a:t>
            </a:r>
          </a:p>
          <a:p>
            <a:pPr marL="658782" lvl="1" indent="-329391" algn="just">
              <a:lnSpc>
                <a:spcPts val="4638"/>
              </a:lnSpc>
              <a:buFont typeface="Arial"/>
              <a:buChar char="•"/>
            </a:pPr>
            <a:r>
              <a:rPr lang="en-US" sz="3051" spc="6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AI 模型能客觀評分不受主觀影響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006469" y="5446807"/>
            <a:ext cx="14171044" cy="1429748"/>
            <a:chOff x="0" y="0"/>
            <a:chExt cx="1687953" cy="17030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87953" cy="170301"/>
            </a:xfrm>
            <a:custGeom>
              <a:avLst/>
              <a:gdLst/>
              <a:ahLst/>
              <a:cxnLst/>
              <a:rect l="l" t="t" r="r" b="b"/>
              <a:pathLst>
                <a:path w="1687953" h="170301">
                  <a:moveTo>
                    <a:pt x="27862" y="0"/>
                  </a:moveTo>
                  <a:lnTo>
                    <a:pt x="1660090" y="0"/>
                  </a:lnTo>
                  <a:cubicBezTo>
                    <a:pt x="1675478" y="0"/>
                    <a:pt x="1687953" y="12474"/>
                    <a:pt x="1687953" y="27862"/>
                  </a:cubicBezTo>
                  <a:lnTo>
                    <a:pt x="1687953" y="142439"/>
                  </a:lnTo>
                  <a:cubicBezTo>
                    <a:pt x="1687953" y="157827"/>
                    <a:pt x="1675478" y="170301"/>
                    <a:pt x="1660090" y="170301"/>
                  </a:cubicBezTo>
                  <a:lnTo>
                    <a:pt x="27862" y="170301"/>
                  </a:lnTo>
                  <a:cubicBezTo>
                    <a:pt x="12474" y="170301"/>
                    <a:pt x="0" y="157827"/>
                    <a:pt x="0" y="142439"/>
                  </a:cubicBezTo>
                  <a:lnTo>
                    <a:pt x="0" y="27862"/>
                  </a:lnTo>
                  <a:cubicBezTo>
                    <a:pt x="0" y="12474"/>
                    <a:pt x="12474" y="0"/>
                    <a:pt x="27862" y="0"/>
                  </a:cubicBezTo>
                  <a:close/>
                </a:path>
              </a:pathLst>
            </a:custGeom>
            <a:solidFill>
              <a:srgbClr val="8FA4C1">
                <a:alpha val="61961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687953" cy="208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418356" y="5787345"/>
            <a:ext cx="2918905" cy="811111"/>
            <a:chOff x="0" y="0"/>
            <a:chExt cx="503849" cy="1400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3849" cy="140011"/>
            </a:xfrm>
            <a:custGeom>
              <a:avLst/>
              <a:gdLst/>
              <a:ahLst/>
              <a:cxnLst/>
              <a:rect l="l" t="t" r="r" b="b"/>
              <a:pathLst>
                <a:path w="503849" h="140011">
                  <a:moveTo>
                    <a:pt x="70005" y="0"/>
                  </a:moveTo>
                  <a:lnTo>
                    <a:pt x="433844" y="0"/>
                  </a:lnTo>
                  <a:cubicBezTo>
                    <a:pt x="452411" y="0"/>
                    <a:pt x="470217" y="7376"/>
                    <a:pt x="483345" y="20504"/>
                  </a:cubicBezTo>
                  <a:cubicBezTo>
                    <a:pt x="496474" y="33633"/>
                    <a:pt x="503849" y="51439"/>
                    <a:pt x="503849" y="70005"/>
                  </a:cubicBezTo>
                  <a:lnTo>
                    <a:pt x="503849" y="70005"/>
                  </a:lnTo>
                  <a:cubicBezTo>
                    <a:pt x="503849" y="108668"/>
                    <a:pt x="472507" y="140011"/>
                    <a:pt x="433844" y="140011"/>
                  </a:cubicBezTo>
                  <a:lnTo>
                    <a:pt x="70005" y="140011"/>
                  </a:lnTo>
                  <a:cubicBezTo>
                    <a:pt x="31342" y="140011"/>
                    <a:pt x="0" y="108668"/>
                    <a:pt x="0" y="70005"/>
                  </a:cubicBezTo>
                  <a:lnTo>
                    <a:pt x="0" y="70005"/>
                  </a:lnTo>
                  <a:cubicBezTo>
                    <a:pt x="0" y="31342"/>
                    <a:pt x="31342" y="0"/>
                    <a:pt x="700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03849" cy="178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418356" y="5961747"/>
            <a:ext cx="2918905" cy="490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6"/>
              </a:lnSpc>
            </a:pPr>
            <a:r>
              <a:rPr lang="en-US" sz="3460" spc="-245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教育面問題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65030" y="5569104"/>
            <a:ext cx="4327805" cy="1142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8782" lvl="1" indent="-329391" algn="just">
              <a:lnSpc>
                <a:spcPts val="4638"/>
              </a:lnSpc>
              <a:buFont typeface="Arial"/>
              <a:buChar char="•"/>
            </a:pPr>
            <a:r>
              <a:rPr lang="en-US" sz="3051" spc="6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提升自主學習效率</a:t>
            </a:r>
          </a:p>
          <a:p>
            <a:pPr marL="658782" lvl="1" indent="-329391" algn="just">
              <a:lnSpc>
                <a:spcPts val="4638"/>
              </a:lnSpc>
              <a:buFont typeface="Arial"/>
              <a:buChar char="•"/>
            </a:pPr>
            <a:r>
              <a:rPr lang="en-US" sz="3051" spc="6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弱點清楚可視化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616736" y="5569104"/>
            <a:ext cx="7053922" cy="561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8782" lvl="1" indent="-329391" algn="just">
              <a:lnSpc>
                <a:spcPts val="4638"/>
              </a:lnSpc>
              <a:buFont typeface="Arial"/>
              <a:buChar char="•"/>
            </a:pPr>
            <a:r>
              <a:rPr lang="en-US" sz="3051" spc="6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減少教師批改負擔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418356" y="7419390"/>
            <a:ext cx="2918905" cy="811111"/>
            <a:chOff x="0" y="0"/>
            <a:chExt cx="503849" cy="1400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03849" cy="140011"/>
            </a:xfrm>
            <a:custGeom>
              <a:avLst/>
              <a:gdLst/>
              <a:ahLst/>
              <a:cxnLst/>
              <a:rect l="l" t="t" r="r" b="b"/>
              <a:pathLst>
                <a:path w="503849" h="140011">
                  <a:moveTo>
                    <a:pt x="70005" y="0"/>
                  </a:moveTo>
                  <a:lnTo>
                    <a:pt x="433844" y="0"/>
                  </a:lnTo>
                  <a:cubicBezTo>
                    <a:pt x="452411" y="0"/>
                    <a:pt x="470217" y="7376"/>
                    <a:pt x="483345" y="20504"/>
                  </a:cubicBezTo>
                  <a:cubicBezTo>
                    <a:pt x="496474" y="33633"/>
                    <a:pt x="503849" y="51439"/>
                    <a:pt x="503849" y="70005"/>
                  </a:cubicBezTo>
                  <a:lnTo>
                    <a:pt x="503849" y="70005"/>
                  </a:lnTo>
                  <a:cubicBezTo>
                    <a:pt x="503849" y="108668"/>
                    <a:pt x="472507" y="140011"/>
                    <a:pt x="433844" y="140011"/>
                  </a:cubicBezTo>
                  <a:lnTo>
                    <a:pt x="70005" y="140011"/>
                  </a:lnTo>
                  <a:cubicBezTo>
                    <a:pt x="31342" y="140011"/>
                    <a:pt x="0" y="108668"/>
                    <a:pt x="0" y="70005"/>
                  </a:cubicBezTo>
                  <a:lnTo>
                    <a:pt x="0" y="70005"/>
                  </a:lnTo>
                  <a:cubicBezTo>
                    <a:pt x="0" y="31342"/>
                    <a:pt x="31342" y="0"/>
                    <a:pt x="700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03849" cy="178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418356" y="7593792"/>
            <a:ext cx="2918905" cy="490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6"/>
              </a:lnSpc>
            </a:pPr>
            <a:r>
              <a:rPr lang="en-US" sz="3460" spc="-245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使用者痛點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65030" y="7201149"/>
            <a:ext cx="5051705" cy="1142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8782" lvl="1" indent="-329391" algn="just">
              <a:lnSpc>
                <a:spcPts val="4638"/>
              </a:lnSpc>
              <a:buFont typeface="Arial"/>
              <a:buChar char="•"/>
            </a:pPr>
            <a:r>
              <a:rPr lang="en-US" sz="3051" spc="6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不會寫、不知道缺什麼</a:t>
            </a:r>
          </a:p>
          <a:p>
            <a:pPr marL="658782" lvl="1" indent="-329391" algn="just">
              <a:lnSpc>
                <a:spcPts val="4638"/>
              </a:lnSpc>
              <a:buFont typeface="Arial"/>
              <a:buChar char="•"/>
            </a:pPr>
            <a:r>
              <a:rPr lang="en-US" sz="3051" spc="6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沒有即時回饋、學習低效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616736" y="7201149"/>
            <a:ext cx="7053922" cy="561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8782" lvl="1" indent="-329391" algn="just">
              <a:lnSpc>
                <a:spcPts val="4638"/>
              </a:lnSpc>
              <a:buFont typeface="Arial"/>
              <a:buChar char="•"/>
            </a:pPr>
            <a:r>
              <a:rPr lang="en-US" sz="3051" spc="6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分心在不同網站跳來跳去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950430" y="628301"/>
            <a:ext cx="1665830" cy="588932"/>
            <a:chOff x="0" y="0"/>
            <a:chExt cx="438737" cy="15511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u="none" strike="noStrike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350265" y="341540"/>
            <a:ext cx="17587469" cy="9603920"/>
            <a:chOff x="0" y="0"/>
            <a:chExt cx="4632091" cy="2529427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32091" cy="2529427"/>
            </a:xfrm>
            <a:custGeom>
              <a:avLst/>
              <a:gdLst/>
              <a:ahLst/>
              <a:cxnLst/>
              <a:rect l="l" t="t" r="r" b="b"/>
              <a:pathLst>
                <a:path w="4632091" h="2529427">
                  <a:moveTo>
                    <a:pt x="22450" y="0"/>
                  </a:moveTo>
                  <a:lnTo>
                    <a:pt x="4609641" y="0"/>
                  </a:lnTo>
                  <a:cubicBezTo>
                    <a:pt x="4615595" y="0"/>
                    <a:pt x="4621305" y="2365"/>
                    <a:pt x="4625515" y="6575"/>
                  </a:cubicBezTo>
                  <a:cubicBezTo>
                    <a:pt x="4629725" y="10786"/>
                    <a:pt x="4632091" y="16496"/>
                    <a:pt x="4632091" y="22450"/>
                  </a:cubicBezTo>
                  <a:lnTo>
                    <a:pt x="4632091" y="2506977"/>
                  </a:lnTo>
                  <a:cubicBezTo>
                    <a:pt x="4632091" y="2519376"/>
                    <a:pt x="4622039" y="2529427"/>
                    <a:pt x="4609641" y="2529427"/>
                  </a:cubicBezTo>
                  <a:lnTo>
                    <a:pt x="22450" y="2529427"/>
                  </a:lnTo>
                  <a:cubicBezTo>
                    <a:pt x="10051" y="2529427"/>
                    <a:pt x="0" y="2519376"/>
                    <a:pt x="0" y="2506977"/>
                  </a:cubicBezTo>
                  <a:lnTo>
                    <a:pt x="0" y="22450"/>
                  </a:lnTo>
                  <a:cubicBezTo>
                    <a:pt x="0" y="10051"/>
                    <a:pt x="10051" y="0"/>
                    <a:pt x="22450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32091" cy="2567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65001" y="8346801"/>
            <a:ext cx="1822999" cy="182299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8" name="Group 8"/>
          <p:cNvGrpSpPr>
            <a:grpSpLocks noGrp="1" noUngrp="1" noRot="1" noMove="1" noResize="1"/>
          </p:cNvGrpSpPr>
          <p:nvPr/>
        </p:nvGrpSpPr>
        <p:grpSpPr>
          <a:xfrm>
            <a:off x="17035435" y="8917235"/>
            <a:ext cx="682130" cy="682130"/>
            <a:chOff x="0" y="0"/>
            <a:chExt cx="812800" cy="812800"/>
          </a:xfrm>
        </p:grpSpPr>
        <p:sp>
          <p:nvSpPr>
            <p:cNvPr id="9" name="Freeform 9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014013" y="7723491"/>
            <a:ext cx="2728557" cy="2387487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36213" y="1452767"/>
            <a:ext cx="3351758" cy="96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844"/>
              </a:lnSpc>
              <a:spcBef>
                <a:spcPct val="0"/>
              </a:spcBef>
            </a:pPr>
            <a:r>
              <a:rPr lang="en-US" sz="5603" u="none" strike="noStrike" spc="-324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系統架構圖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7580" y="2840794"/>
            <a:ext cx="944236" cy="470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339"/>
              </a:lnSpc>
              <a:spcBef>
                <a:spcPct val="0"/>
              </a:spcBef>
            </a:pPr>
            <a:r>
              <a:rPr lang="en-US" sz="30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用戶</a:t>
            </a:r>
            <a:endParaRPr lang="en-US" sz="30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2695227" y="3139560"/>
            <a:ext cx="126246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533400" y="3428758"/>
            <a:ext cx="3424295" cy="1784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48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法律系學生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539746" lvl="1" indent="-269873" algn="l">
              <a:lnSpc>
                <a:spcPts val="48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國考考生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539746" lvl="1" indent="-269873" algn="l">
              <a:lnSpc>
                <a:spcPts val="48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自主練習的使用者</a:t>
            </a: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...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11513" y="3390704"/>
            <a:ext cx="5089719" cy="454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4849"/>
              </a:lnSpc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題目瀏覽與選擇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539746" lvl="1" indent="-269873" algn="l">
              <a:lnSpc>
                <a:spcPts val="4849"/>
              </a:lnSpc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申論作答輸入、送出評分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539746" lvl="1" indent="-269873" algn="l">
              <a:lnSpc>
                <a:spcPts val="3749"/>
              </a:lnSpc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顯示</a:t>
            </a: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AI </a:t>
            </a: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評分結果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algn="l">
              <a:lnSpc>
                <a:spcPts val="3749"/>
              </a:lnSpc>
            </a:pP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（</a:t>
            </a: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分數、命中關鍵字、缺失重點</a:t>
            </a: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）</a:t>
            </a:r>
          </a:p>
          <a:p>
            <a:pPr marL="539746" lvl="1" indent="-269873" algn="l">
              <a:lnSpc>
                <a:spcPts val="4849"/>
              </a:lnSpc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顯示學習儀表板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1079492" lvl="2" indent="-359831" algn="l">
              <a:lnSpc>
                <a:spcPts val="4849"/>
              </a:lnSpc>
              <a:buFont typeface="Arial"/>
              <a:buChar char="⚬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分數趨勢圖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1079492" lvl="2" indent="-359831" algn="l">
              <a:lnSpc>
                <a:spcPts val="4849"/>
              </a:lnSpc>
              <a:buFont typeface="Arial"/>
              <a:buChar char="⚬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常錯關鍵字</a:t>
            </a: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/ </a:t>
            </a: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主題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1079492" lvl="2" indent="-359831" algn="l">
              <a:lnSpc>
                <a:spcPts val="4849"/>
              </a:lnSpc>
              <a:buFont typeface="Arial"/>
              <a:buChar char="⚬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法條掌握程度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152952" y="2909124"/>
            <a:ext cx="4343550" cy="481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339"/>
              </a:lnSpc>
              <a:spcBef>
                <a:spcPct val="0"/>
              </a:spcBef>
            </a:pPr>
            <a:r>
              <a:rPr lang="en-US" sz="30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後端服務層</a:t>
            </a:r>
            <a:r>
              <a:rPr lang="en-US" sz="30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(</a:t>
            </a:r>
            <a:r>
              <a:rPr lang="en-US" sz="30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FastAPI</a:t>
            </a:r>
            <a:r>
              <a:rPr lang="en-US" sz="30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03673" y="3551001"/>
            <a:ext cx="8089285" cy="1784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48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接收前端請求（取得題目、送出答案、查詢紀錄等</a:t>
            </a: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）</a:t>
            </a:r>
          </a:p>
          <a:p>
            <a:pPr marL="539746" lvl="1" indent="-269873" algn="l">
              <a:lnSpc>
                <a:spcPts val="48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呼叫</a:t>
            </a: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AI </a:t>
            </a: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分析模組進行評分運算與弱點分析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539746" lvl="1" indent="-269873" algn="l">
              <a:lnSpc>
                <a:spcPts val="48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組合並回傳評分結果與學習報表所需資料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01232" y="6701583"/>
            <a:ext cx="2165888" cy="470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339"/>
              </a:lnSpc>
              <a:spcBef>
                <a:spcPct val="0"/>
              </a:spcBef>
            </a:pPr>
            <a:r>
              <a:rPr lang="en-US" sz="30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資料儲存層</a:t>
            </a:r>
            <a:endParaRPr lang="en-US" sz="30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759923" y="6717255"/>
            <a:ext cx="2269569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9"/>
              </a:lnSpc>
              <a:spcBef>
                <a:spcPct val="0"/>
              </a:spcBef>
            </a:pPr>
            <a:r>
              <a:rPr lang="en-US" sz="30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AI </a:t>
            </a:r>
            <a:r>
              <a:rPr lang="en-US" sz="30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分析模組</a:t>
            </a:r>
            <a:r>
              <a:rPr lang="en-US" sz="30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76868" y="7308349"/>
            <a:ext cx="4652384" cy="239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48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Sentence-BERT：語意比對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539746" lvl="1" indent="-269873" algn="l">
              <a:lnSpc>
                <a:spcPts val="48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關鍵字檢核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539746" lvl="1" indent="-269873" algn="l">
              <a:lnSpc>
                <a:spcPts val="48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RAG（未來</a:t>
            </a: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）</a:t>
            </a:r>
          </a:p>
          <a:p>
            <a:pPr marL="539746" lvl="1" indent="-269873" algn="l">
              <a:lnSpc>
                <a:spcPts val="48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AI </a:t>
            </a: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教練弱點模型</a:t>
            </a:r>
            <a:endParaRPr lang="en-US" sz="2499" u="none" strike="noStrike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4875683" y="5514530"/>
            <a:ext cx="19025" cy="10787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4225405" y="2840793"/>
            <a:ext cx="3983958" cy="470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339"/>
              </a:lnSpc>
              <a:spcBef>
                <a:spcPct val="0"/>
              </a:spcBef>
            </a:pPr>
            <a:r>
              <a:rPr lang="en-US" sz="30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前端介面層</a:t>
            </a:r>
            <a:r>
              <a:rPr lang="en-US" sz="30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(Next.js)</a:t>
            </a:r>
          </a:p>
        </p:txBody>
      </p:sp>
      <p:sp>
        <p:nvSpPr>
          <p:cNvPr id="27" name="AutoShape 27"/>
          <p:cNvSpPr/>
          <p:nvPr/>
        </p:nvSpPr>
        <p:spPr>
          <a:xfrm flipV="1">
            <a:off x="8513095" y="3148570"/>
            <a:ext cx="143843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AutoShape 28"/>
          <p:cNvSpPr/>
          <p:nvPr/>
        </p:nvSpPr>
        <p:spPr>
          <a:xfrm flipH="1">
            <a:off x="10235533" y="5514194"/>
            <a:ext cx="0" cy="10030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96587" y="7311756"/>
            <a:ext cx="5446136" cy="1174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48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存取</a:t>
            </a: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MySQL</a:t>
            </a:r>
          </a:p>
          <a:p>
            <a:pPr algn="l">
              <a:lnSpc>
                <a:spcPts val="4849"/>
              </a:lnSpc>
              <a:spcBef>
                <a:spcPct val="0"/>
              </a:spcBef>
            </a:pP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（</a:t>
            </a:r>
            <a:r>
              <a:rPr lang="en-US" sz="2499" u="none" strike="noStrike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題目、作答紀錄、統計資料</a:t>
            </a:r>
            <a:r>
              <a:rPr lang="en-US" sz="2499" u="none" strike="noStrike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）</a:t>
            </a:r>
          </a:p>
        </p:txBody>
      </p:sp>
      <p:sp>
        <p:nvSpPr>
          <p:cNvPr id="31" name="Freeform 31"/>
          <p:cNvSpPr/>
          <p:nvPr/>
        </p:nvSpPr>
        <p:spPr>
          <a:xfrm>
            <a:off x="16736419" y="924288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2" name="Group 32"/>
          <p:cNvGrpSpPr/>
          <p:nvPr/>
        </p:nvGrpSpPr>
        <p:grpSpPr>
          <a:xfrm>
            <a:off x="4409081" y="671308"/>
            <a:ext cx="9469839" cy="814592"/>
            <a:chOff x="0" y="0"/>
            <a:chExt cx="2494114" cy="21454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950430" y="784138"/>
            <a:ext cx="1665830" cy="588932"/>
            <a:chOff x="0" y="0"/>
            <a:chExt cx="438737" cy="15511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441856" y="885582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29803" y="887795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99106" y="887795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u="none" strike="noStrike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94836" y="885582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60786" y="628301"/>
            <a:ext cx="1665830" cy="588932"/>
            <a:chOff x="0" y="0"/>
            <a:chExt cx="438737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-321703" y="0"/>
            <a:ext cx="3093959" cy="10287000"/>
            <a:chOff x="0" y="0"/>
            <a:chExt cx="814870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4870" cy="2709333"/>
            </a:xfrm>
            <a:custGeom>
              <a:avLst/>
              <a:gdLst/>
              <a:ahLst/>
              <a:cxnLst/>
              <a:rect l="l" t="t" r="r" b="b"/>
              <a:pathLst>
                <a:path w="814870" h="2709333">
                  <a:moveTo>
                    <a:pt x="127616" y="0"/>
                  </a:moveTo>
                  <a:lnTo>
                    <a:pt x="687254" y="0"/>
                  </a:lnTo>
                  <a:cubicBezTo>
                    <a:pt x="721100" y="0"/>
                    <a:pt x="753559" y="13445"/>
                    <a:pt x="777492" y="37378"/>
                  </a:cubicBezTo>
                  <a:cubicBezTo>
                    <a:pt x="801425" y="61310"/>
                    <a:pt x="814870" y="93770"/>
                    <a:pt x="814870" y="127616"/>
                  </a:cubicBezTo>
                  <a:lnTo>
                    <a:pt x="814870" y="2581717"/>
                  </a:lnTo>
                  <a:cubicBezTo>
                    <a:pt x="814870" y="2615563"/>
                    <a:pt x="801425" y="2648023"/>
                    <a:pt x="777492" y="2671956"/>
                  </a:cubicBezTo>
                  <a:cubicBezTo>
                    <a:pt x="753559" y="2695888"/>
                    <a:pt x="721100" y="2709333"/>
                    <a:pt x="687254" y="2709333"/>
                  </a:cubicBezTo>
                  <a:lnTo>
                    <a:pt x="127616" y="2709333"/>
                  </a:lnTo>
                  <a:cubicBezTo>
                    <a:pt x="93770" y="2709333"/>
                    <a:pt x="61310" y="2695888"/>
                    <a:pt x="37378" y="2671956"/>
                  </a:cubicBezTo>
                  <a:cubicBezTo>
                    <a:pt x="13445" y="2648023"/>
                    <a:pt x="0" y="2615563"/>
                    <a:pt x="0" y="2581717"/>
                  </a:cubicBezTo>
                  <a:lnTo>
                    <a:pt x="0" y="127616"/>
                  </a:lnTo>
                  <a:cubicBezTo>
                    <a:pt x="0" y="93770"/>
                    <a:pt x="13445" y="61310"/>
                    <a:pt x="37378" y="37378"/>
                  </a:cubicBezTo>
                  <a:cubicBezTo>
                    <a:pt x="61310" y="13445"/>
                    <a:pt x="93770" y="0"/>
                    <a:pt x="127616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487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29803" y="1927533"/>
            <a:ext cx="1822999" cy="182299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427979" y="1582401"/>
            <a:ext cx="13569881" cy="8295975"/>
          </a:xfrm>
          <a:custGeom>
            <a:avLst/>
            <a:gdLst/>
            <a:ahLst/>
            <a:cxnLst/>
            <a:rect l="l" t="t" r="r" b="b"/>
            <a:pathLst>
              <a:path w="13569881" h="8295975">
                <a:moveTo>
                  <a:pt x="0" y="0"/>
                </a:moveTo>
                <a:lnTo>
                  <a:pt x="13569881" y="0"/>
                </a:lnTo>
                <a:lnTo>
                  <a:pt x="13569881" y="8295975"/>
                </a:lnTo>
                <a:lnTo>
                  <a:pt x="0" y="82959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837" y="1803708"/>
            <a:ext cx="881079" cy="7111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3022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系統預覽畫面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60786" y="628301"/>
            <a:ext cx="1665830" cy="588932"/>
            <a:chOff x="0" y="0"/>
            <a:chExt cx="438737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-321703" y="0"/>
            <a:ext cx="3093959" cy="10287000"/>
            <a:chOff x="0" y="0"/>
            <a:chExt cx="814870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4870" cy="2709333"/>
            </a:xfrm>
            <a:custGeom>
              <a:avLst/>
              <a:gdLst/>
              <a:ahLst/>
              <a:cxnLst/>
              <a:rect l="l" t="t" r="r" b="b"/>
              <a:pathLst>
                <a:path w="814870" h="2709333">
                  <a:moveTo>
                    <a:pt x="127616" y="0"/>
                  </a:moveTo>
                  <a:lnTo>
                    <a:pt x="687254" y="0"/>
                  </a:lnTo>
                  <a:cubicBezTo>
                    <a:pt x="721100" y="0"/>
                    <a:pt x="753559" y="13445"/>
                    <a:pt x="777492" y="37378"/>
                  </a:cubicBezTo>
                  <a:cubicBezTo>
                    <a:pt x="801425" y="61310"/>
                    <a:pt x="814870" y="93770"/>
                    <a:pt x="814870" y="127616"/>
                  </a:cubicBezTo>
                  <a:lnTo>
                    <a:pt x="814870" y="2581717"/>
                  </a:lnTo>
                  <a:cubicBezTo>
                    <a:pt x="814870" y="2615563"/>
                    <a:pt x="801425" y="2648023"/>
                    <a:pt x="777492" y="2671956"/>
                  </a:cubicBezTo>
                  <a:cubicBezTo>
                    <a:pt x="753559" y="2695888"/>
                    <a:pt x="721100" y="2709333"/>
                    <a:pt x="687254" y="2709333"/>
                  </a:cubicBezTo>
                  <a:lnTo>
                    <a:pt x="127616" y="2709333"/>
                  </a:lnTo>
                  <a:cubicBezTo>
                    <a:pt x="93770" y="2709333"/>
                    <a:pt x="61310" y="2695888"/>
                    <a:pt x="37378" y="2671956"/>
                  </a:cubicBezTo>
                  <a:cubicBezTo>
                    <a:pt x="13445" y="2648023"/>
                    <a:pt x="0" y="2615563"/>
                    <a:pt x="0" y="2581717"/>
                  </a:cubicBezTo>
                  <a:lnTo>
                    <a:pt x="0" y="127616"/>
                  </a:lnTo>
                  <a:cubicBezTo>
                    <a:pt x="0" y="93770"/>
                    <a:pt x="13445" y="61310"/>
                    <a:pt x="37378" y="37378"/>
                  </a:cubicBezTo>
                  <a:cubicBezTo>
                    <a:pt x="61310" y="13445"/>
                    <a:pt x="93770" y="0"/>
                    <a:pt x="127616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487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25063" y="1511380"/>
            <a:ext cx="12763719" cy="8216184"/>
            <a:chOff x="0" y="0"/>
            <a:chExt cx="17018292" cy="109549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018292" cy="10954911"/>
            </a:xfrm>
            <a:custGeom>
              <a:avLst/>
              <a:gdLst/>
              <a:ahLst/>
              <a:cxnLst/>
              <a:rect l="l" t="t" r="r" b="b"/>
              <a:pathLst>
                <a:path w="17018292" h="10954911">
                  <a:moveTo>
                    <a:pt x="0" y="0"/>
                  </a:moveTo>
                  <a:lnTo>
                    <a:pt x="17018292" y="0"/>
                  </a:lnTo>
                  <a:lnTo>
                    <a:pt x="17018292" y="10954911"/>
                  </a:lnTo>
                  <a:lnTo>
                    <a:pt x="0" y="10954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899830" y="253366"/>
              <a:ext cx="8569804" cy="10573916"/>
            </a:xfrm>
            <a:custGeom>
              <a:avLst/>
              <a:gdLst/>
              <a:ahLst/>
              <a:cxnLst/>
              <a:rect l="l" t="t" r="r" b="b"/>
              <a:pathLst>
                <a:path w="8569804" h="10573916">
                  <a:moveTo>
                    <a:pt x="0" y="0"/>
                  </a:moveTo>
                  <a:lnTo>
                    <a:pt x="8569804" y="0"/>
                  </a:lnTo>
                  <a:lnTo>
                    <a:pt x="8569804" y="10573916"/>
                  </a:lnTo>
                  <a:lnTo>
                    <a:pt x="0" y="10573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1880" r="-977" b="-1713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u="none" strike="noStrike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2837" y="1803708"/>
            <a:ext cx="881079" cy="7111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3022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系統預覽畫面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60786" y="628301"/>
            <a:ext cx="1665830" cy="588932"/>
            <a:chOff x="0" y="0"/>
            <a:chExt cx="438737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-321703" y="0"/>
            <a:ext cx="3093959" cy="10287000"/>
            <a:chOff x="0" y="0"/>
            <a:chExt cx="814870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4870" cy="2709333"/>
            </a:xfrm>
            <a:custGeom>
              <a:avLst/>
              <a:gdLst/>
              <a:ahLst/>
              <a:cxnLst/>
              <a:rect l="l" t="t" r="r" b="b"/>
              <a:pathLst>
                <a:path w="814870" h="2709333">
                  <a:moveTo>
                    <a:pt x="127616" y="0"/>
                  </a:moveTo>
                  <a:lnTo>
                    <a:pt x="687254" y="0"/>
                  </a:lnTo>
                  <a:cubicBezTo>
                    <a:pt x="721100" y="0"/>
                    <a:pt x="753559" y="13445"/>
                    <a:pt x="777492" y="37378"/>
                  </a:cubicBezTo>
                  <a:cubicBezTo>
                    <a:pt x="801425" y="61310"/>
                    <a:pt x="814870" y="93770"/>
                    <a:pt x="814870" y="127616"/>
                  </a:cubicBezTo>
                  <a:lnTo>
                    <a:pt x="814870" y="2581717"/>
                  </a:lnTo>
                  <a:cubicBezTo>
                    <a:pt x="814870" y="2615563"/>
                    <a:pt x="801425" y="2648023"/>
                    <a:pt x="777492" y="2671956"/>
                  </a:cubicBezTo>
                  <a:cubicBezTo>
                    <a:pt x="753559" y="2695888"/>
                    <a:pt x="721100" y="2709333"/>
                    <a:pt x="687254" y="2709333"/>
                  </a:cubicBezTo>
                  <a:lnTo>
                    <a:pt x="127616" y="2709333"/>
                  </a:lnTo>
                  <a:cubicBezTo>
                    <a:pt x="93770" y="2709333"/>
                    <a:pt x="61310" y="2695888"/>
                    <a:pt x="37378" y="2671956"/>
                  </a:cubicBezTo>
                  <a:cubicBezTo>
                    <a:pt x="13445" y="2648023"/>
                    <a:pt x="0" y="2615563"/>
                    <a:pt x="0" y="2581717"/>
                  </a:cubicBezTo>
                  <a:lnTo>
                    <a:pt x="0" y="127616"/>
                  </a:lnTo>
                  <a:cubicBezTo>
                    <a:pt x="0" y="93770"/>
                    <a:pt x="13445" y="61310"/>
                    <a:pt x="37378" y="37378"/>
                  </a:cubicBezTo>
                  <a:cubicBezTo>
                    <a:pt x="61310" y="13445"/>
                    <a:pt x="93770" y="0"/>
                    <a:pt x="127616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487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217157" y="1927533"/>
            <a:ext cx="14489061" cy="7329255"/>
          </a:xfrm>
          <a:custGeom>
            <a:avLst/>
            <a:gdLst/>
            <a:ahLst/>
            <a:cxnLst/>
            <a:rect l="l" t="t" r="r" b="b"/>
            <a:pathLst>
              <a:path w="14489061" h="7329255">
                <a:moveTo>
                  <a:pt x="0" y="0"/>
                </a:moveTo>
                <a:lnTo>
                  <a:pt x="14489060" y="0"/>
                </a:lnTo>
                <a:lnTo>
                  <a:pt x="14489060" y="7329255"/>
                </a:lnTo>
                <a:lnTo>
                  <a:pt x="0" y="732925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3892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2837" y="1803708"/>
            <a:ext cx="881079" cy="7111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3022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系統預覽畫面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60786" y="628301"/>
            <a:ext cx="1665830" cy="588932"/>
            <a:chOff x="0" y="0"/>
            <a:chExt cx="438737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-321703" y="0"/>
            <a:ext cx="4264059" cy="10287000"/>
            <a:chOff x="0" y="0"/>
            <a:chExt cx="1123044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3044" cy="2709333"/>
            </a:xfrm>
            <a:custGeom>
              <a:avLst/>
              <a:gdLst/>
              <a:ahLst/>
              <a:cxnLst/>
              <a:rect l="l" t="t" r="r" b="b"/>
              <a:pathLst>
                <a:path w="1123044" h="2709333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29803" y="1927533"/>
            <a:ext cx="1822999" cy="182299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887644" y="7886644"/>
            <a:ext cx="1371656" cy="1371656"/>
          </a:xfrm>
          <a:custGeom>
            <a:avLst/>
            <a:gdLst/>
            <a:ahLst/>
            <a:cxnLst/>
            <a:rect l="l" t="t" r="r" b="b"/>
            <a:pathLst>
              <a:path w="1371656" h="1371656">
                <a:moveTo>
                  <a:pt x="0" y="0"/>
                </a:moveTo>
                <a:lnTo>
                  <a:pt x="1371656" y="0"/>
                </a:lnTo>
                <a:lnTo>
                  <a:pt x="1371656" y="1371656"/>
                </a:lnTo>
                <a:lnTo>
                  <a:pt x="0" y="1371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16034" y="6177513"/>
            <a:ext cx="12551447" cy="3996619"/>
          </a:xfrm>
          <a:custGeom>
            <a:avLst/>
            <a:gdLst/>
            <a:ahLst/>
            <a:cxnLst/>
            <a:rect l="l" t="t" r="r" b="b"/>
            <a:pathLst>
              <a:path w="12551447" h="3996619">
                <a:moveTo>
                  <a:pt x="0" y="0"/>
                </a:moveTo>
                <a:lnTo>
                  <a:pt x="12551447" y="0"/>
                </a:lnTo>
                <a:lnTo>
                  <a:pt x="12551447" y="3996619"/>
                </a:lnTo>
                <a:lnTo>
                  <a:pt x="0" y="3996619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sq">
            <a:solidFill>
              <a:srgbClr val="D9D9D9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41856" y="1596222"/>
            <a:ext cx="7448140" cy="100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-337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系統特色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82589" y="2701131"/>
            <a:ext cx="7895553" cy="2810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just">
              <a:lnSpc>
                <a:spcPts val="56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u="none" strike="noStrike" spc="-204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語意比對（SBERT</a:t>
            </a:r>
            <a:r>
              <a:rPr lang="en-US" sz="3199" u="none" strike="noStrike" spc="-204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）</a:t>
            </a:r>
          </a:p>
          <a:p>
            <a:pPr marL="690874" lvl="1" indent="-345437" algn="just">
              <a:lnSpc>
                <a:spcPts val="56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u="none" strike="noStrike" spc="-204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核心關鍵字</a:t>
            </a:r>
            <a:r>
              <a:rPr lang="en-US" sz="3199" u="none" strike="noStrike" spc="-204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/ </a:t>
            </a:r>
            <a:r>
              <a:rPr lang="en-US" sz="3199" u="none" strike="noStrike" spc="-204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法條檢核</a:t>
            </a:r>
            <a:endParaRPr lang="en-US" sz="3199" u="none" strike="noStrike" spc="-204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690874" lvl="1" indent="-345437" algn="just">
              <a:lnSpc>
                <a:spcPts val="56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u="none" strike="noStrike" spc="-204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字數</a:t>
            </a:r>
            <a:r>
              <a:rPr lang="en-US" sz="3199" u="none" strike="noStrike" spc="-204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/ </a:t>
            </a:r>
            <a:r>
              <a:rPr lang="en-US" sz="3199" u="none" strike="noStrike" spc="-204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結構完整度</a:t>
            </a:r>
            <a:endParaRPr lang="en-US" sz="3199" u="none" strike="noStrike" spc="-204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690874" lvl="1" indent="-345437" algn="just">
              <a:lnSpc>
                <a:spcPts val="56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u="none" strike="noStrike" spc="-204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生成具體回饋（方向</a:t>
            </a:r>
            <a:r>
              <a:rPr lang="en-US" sz="3199" u="none" strike="noStrike" spc="-204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 &amp; </a:t>
            </a:r>
            <a:r>
              <a:rPr lang="en-US" sz="3199" u="none" strike="noStrike" spc="-204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法條建議</a:t>
            </a:r>
            <a:r>
              <a:rPr lang="en-US" sz="3199" u="none" strike="noStrike" spc="-204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31790" y="2867608"/>
            <a:ext cx="7063045" cy="458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3200" i="1" spc="-227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1.  AI </a:t>
            </a:r>
            <a:r>
              <a:rPr lang="en-US" sz="3200" i="1" spc="-227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自動化法律申論評分</a:t>
            </a:r>
            <a:endParaRPr lang="en-US" sz="3200" i="1" spc="-227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10</a:t>
            </a:r>
          </a:p>
        </p:txBody>
      </p:sp>
      <p:sp>
        <p:nvSpPr>
          <p:cNvPr id="25" name="Freeform 25"/>
          <p:cNvSpPr/>
          <p:nvPr/>
        </p:nvSpPr>
        <p:spPr>
          <a:xfrm>
            <a:off x="375999" y="3716476"/>
            <a:ext cx="7428395" cy="2331399"/>
          </a:xfrm>
          <a:custGeom>
            <a:avLst/>
            <a:gdLst/>
            <a:ahLst/>
            <a:cxnLst/>
            <a:rect l="l" t="t" r="r" b="b"/>
            <a:pathLst>
              <a:path w="7428395" h="2331399">
                <a:moveTo>
                  <a:pt x="0" y="0"/>
                </a:moveTo>
                <a:lnTo>
                  <a:pt x="7428395" y="0"/>
                </a:lnTo>
                <a:lnTo>
                  <a:pt x="7428395" y="2331399"/>
                </a:lnTo>
                <a:lnTo>
                  <a:pt x="0" y="2331399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sq">
            <a:solidFill>
              <a:srgbClr val="D9D9D9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60786" y="628301"/>
            <a:ext cx="1665830" cy="588932"/>
            <a:chOff x="0" y="0"/>
            <a:chExt cx="438737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-321703" y="0"/>
            <a:ext cx="4264059" cy="10287000"/>
            <a:chOff x="0" y="0"/>
            <a:chExt cx="1123044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3044" cy="2709333"/>
            </a:xfrm>
            <a:custGeom>
              <a:avLst/>
              <a:gdLst/>
              <a:ahLst/>
              <a:cxnLst/>
              <a:rect l="l" t="t" r="r" b="b"/>
              <a:pathLst>
                <a:path w="1123044" h="2709333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887644" y="7886644"/>
            <a:ext cx="1371656" cy="1371656"/>
          </a:xfrm>
          <a:custGeom>
            <a:avLst/>
            <a:gdLst/>
            <a:ahLst/>
            <a:cxnLst/>
            <a:rect l="l" t="t" r="r" b="b"/>
            <a:pathLst>
              <a:path w="1371656" h="1371656">
                <a:moveTo>
                  <a:pt x="0" y="0"/>
                </a:moveTo>
                <a:lnTo>
                  <a:pt x="1371656" y="0"/>
                </a:lnTo>
                <a:lnTo>
                  <a:pt x="1371656" y="1371656"/>
                </a:lnTo>
                <a:lnTo>
                  <a:pt x="0" y="1371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293975" y="5479844"/>
            <a:ext cx="14978737" cy="3778456"/>
          </a:xfrm>
          <a:custGeom>
            <a:avLst/>
            <a:gdLst/>
            <a:ahLst/>
            <a:cxnLst/>
            <a:rect l="l" t="t" r="r" b="b"/>
            <a:pathLst>
              <a:path w="14978737" h="3778456">
                <a:moveTo>
                  <a:pt x="0" y="0"/>
                </a:moveTo>
                <a:lnTo>
                  <a:pt x="14978736" y="0"/>
                </a:lnTo>
                <a:lnTo>
                  <a:pt x="14978736" y="3778456"/>
                </a:lnTo>
                <a:lnTo>
                  <a:pt x="0" y="3778456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sq">
            <a:solidFill>
              <a:srgbClr val="D9D9D9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41856" y="1697949"/>
            <a:ext cx="12201673" cy="100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-337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系統特色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57289" y="3593424"/>
            <a:ext cx="11570805" cy="138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just">
              <a:lnSpc>
                <a:spcPts val="5631"/>
              </a:lnSpc>
              <a:buFont typeface="Arial"/>
              <a:buChar char="•"/>
            </a:pPr>
            <a:r>
              <a:rPr lang="en-US" sz="3199" spc="-204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分析你的歷史作答</a:t>
            </a:r>
            <a:endParaRPr lang="en-US" sz="3199" spc="-204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690874" lvl="1" indent="-345437" algn="just">
              <a:lnSpc>
                <a:spcPts val="5631"/>
              </a:lnSpc>
              <a:buFont typeface="Arial"/>
              <a:buChar char="•"/>
            </a:pPr>
            <a:r>
              <a:rPr lang="en-US" sz="3199" spc="-204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依照歷次作答累積統計出常錯關鍵字與薄弱主題</a:t>
            </a:r>
            <a:endParaRPr lang="en-US" sz="3199" spc="-204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441856" y="2918967"/>
            <a:ext cx="11570805" cy="458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3200" i="1" spc="-227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2.  AI 教練模組（弱點分析）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60786" y="628301"/>
            <a:ext cx="1665830" cy="588932"/>
            <a:chOff x="0" y="0"/>
            <a:chExt cx="438737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-321703" y="0"/>
            <a:ext cx="4264059" cy="10287000"/>
            <a:chOff x="0" y="0"/>
            <a:chExt cx="1123044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3044" cy="2709333"/>
            </a:xfrm>
            <a:custGeom>
              <a:avLst/>
              <a:gdLst/>
              <a:ahLst/>
              <a:cxnLst/>
              <a:rect l="l" t="t" r="r" b="b"/>
              <a:pathLst>
                <a:path w="1123044" h="2709333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887644" y="7886644"/>
            <a:ext cx="1371656" cy="1371656"/>
          </a:xfrm>
          <a:custGeom>
            <a:avLst/>
            <a:gdLst/>
            <a:ahLst/>
            <a:cxnLst/>
            <a:rect l="l" t="t" r="r" b="b"/>
            <a:pathLst>
              <a:path w="1371656" h="1371656">
                <a:moveTo>
                  <a:pt x="0" y="0"/>
                </a:moveTo>
                <a:lnTo>
                  <a:pt x="1371656" y="0"/>
                </a:lnTo>
                <a:lnTo>
                  <a:pt x="1371656" y="1371656"/>
                </a:lnTo>
                <a:lnTo>
                  <a:pt x="0" y="1371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648381" y="1753497"/>
            <a:ext cx="14885138" cy="7806428"/>
          </a:xfrm>
          <a:custGeom>
            <a:avLst/>
            <a:gdLst/>
            <a:ahLst/>
            <a:cxnLst/>
            <a:rect l="l" t="t" r="r" b="b"/>
            <a:pathLst>
              <a:path w="14885138" h="7806428">
                <a:moveTo>
                  <a:pt x="0" y="0"/>
                </a:moveTo>
                <a:lnTo>
                  <a:pt x="14885138" y="0"/>
                </a:lnTo>
                <a:lnTo>
                  <a:pt x="14885138" y="7806428"/>
                </a:lnTo>
                <a:lnTo>
                  <a:pt x="0" y="780642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sq">
            <a:solidFill>
              <a:srgbClr val="D9D9D9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60786" y="628301"/>
            <a:ext cx="1665830" cy="588932"/>
            <a:chOff x="0" y="0"/>
            <a:chExt cx="438737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-321703" y="0"/>
            <a:ext cx="4264059" cy="10287000"/>
            <a:chOff x="0" y="0"/>
            <a:chExt cx="1123044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3044" cy="2709333"/>
            </a:xfrm>
            <a:custGeom>
              <a:avLst/>
              <a:gdLst/>
              <a:ahLst/>
              <a:cxnLst/>
              <a:rect l="l" t="t" r="r" b="b"/>
              <a:pathLst>
                <a:path w="1123044" h="2709333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887644" y="7886644"/>
            <a:ext cx="1371656" cy="1371656"/>
          </a:xfrm>
          <a:custGeom>
            <a:avLst/>
            <a:gdLst/>
            <a:ahLst/>
            <a:cxnLst/>
            <a:rect l="l" t="t" r="r" b="b"/>
            <a:pathLst>
              <a:path w="1371656" h="1371656">
                <a:moveTo>
                  <a:pt x="0" y="0"/>
                </a:moveTo>
                <a:lnTo>
                  <a:pt x="1371656" y="0"/>
                </a:lnTo>
                <a:lnTo>
                  <a:pt x="1371656" y="1371656"/>
                </a:lnTo>
                <a:lnTo>
                  <a:pt x="0" y="13716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917215" y="4364528"/>
            <a:ext cx="10556799" cy="5574471"/>
          </a:xfrm>
          <a:custGeom>
            <a:avLst/>
            <a:gdLst/>
            <a:ahLst/>
            <a:cxnLst/>
            <a:rect l="l" t="t" r="r" b="b"/>
            <a:pathLst>
              <a:path w="10556799" h="5574471">
                <a:moveTo>
                  <a:pt x="0" y="0"/>
                </a:moveTo>
                <a:lnTo>
                  <a:pt x="10556799" y="0"/>
                </a:lnTo>
                <a:lnTo>
                  <a:pt x="10556799" y="5574472"/>
                </a:lnTo>
                <a:lnTo>
                  <a:pt x="0" y="557447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sq">
            <a:solidFill>
              <a:srgbClr val="D9D9D9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78930" y="5769621"/>
            <a:ext cx="5080370" cy="138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just">
              <a:lnSpc>
                <a:spcPts val="5631"/>
              </a:lnSpc>
              <a:buFont typeface="Arial"/>
              <a:buChar char="•"/>
            </a:pPr>
            <a:r>
              <a:rPr lang="en-US" sz="3199" spc="-20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弱點、法條掌握雷達圖</a:t>
            </a:r>
          </a:p>
          <a:p>
            <a:pPr marL="690874" lvl="1" indent="-345437" algn="just">
              <a:lnSpc>
                <a:spcPts val="5631"/>
              </a:lnSpc>
              <a:buFont typeface="Arial"/>
              <a:buChar char="•"/>
            </a:pPr>
            <a:r>
              <a:rPr lang="en-US" sz="3199" spc="-204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關鍵字命中率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31790" y="3056104"/>
            <a:ext cx="7063045" cy="458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3200" i="1" spc="-227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3.  可視化學習圖表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41856" y="1697949"/>
            <a:ext cx="12201673" cy="100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-337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系統特色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60786" y="628301"/>
            <a:ext cx="1665830" cy="588932"/>
            <a:chOff x="0" y="0"/>
            <a:chExt cx="438737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-321703" y="0"/>
            <a:ext cx="4264059" cy="10287000"/>
            <a:chOff x="0" y="0"/>
            <a:chExt cx="1123044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3044" cy="2709333"/>
            </a:xfrm>
            <a:custGeom>
              <a:avLst/>
              <a:gdLst/>
              <a:ahLst/>
              <a:cxnLst/>
              <a:rect l="l" t="t" r="r" b="b"/>
              <a:pathLst>
                <a:path w="1123044" h="2709333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887644" y="7886644"/>
            <a:ext cx="1371656" cy="1371656"/>
          </a:xfrm>
          <a:custGeom>
            <a:avLst/>
            <a:gdLst/>
            <a:ahLst/>
            <a:cxnLst/>
            <a:rect l="l" t="t" r="r" b="b"/>
            <a:pathLst>
              <a:path w="1371656" h="1371656">
                <a:moveTo>
                  <a:pt x="0" y="0"/>
                </a:moveTo>
                <a:lnTo>
                  <a:pt x="1371656" y="0"/>
                </a:lnTo>
                <a:lnTo>
                  <a:pt x="1371656" y="1371656"/>
                </a:lnTo>
                <a:lnTo>
                  <a:pt x="0" y="1371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1198016" y="1638101"/>
            <a:ext cx="14229100" cy="8225625"/>
          </a:xfrm>
          <a:custGeom>
            <a:avLst/>
            <a:gdLst/>
            <a:ahLst/>
            <a:cxnLst/>
            <a:rect l="l" t="t" r="r" b="b"/>
            <a:pathLst>
              <a:path w="14229100" h="8225625">
                <a:moveTo>
                  <a:pt x="0" y="0"/>
                </a:moveTo>
                <a:lnTo>
                  <a:pt x="14229100" y="0"/>
                </a:lnTo>
                <a:lnTo>
                  <a:pt x="14229100" y="8225625"/>
                </a:lnTo>
                <a:lnTo>
                  <a:pt x="0" y="8225625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sq">
            <a:solidFill>
              <a:srgbClr val="D9D9D9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60786" y="628301"/>
            <a:ext cx="1665830" cy="588932"/>
            <a:chOff x="0" y="0"/>
            <a:chExt cx="438737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1230046" y="2282768"/>
            <a:ext cx="15767813" cy="3912159"/>
            <a:chOff x="0" y="0"/>
            <a:chExt cx="2442847" cy="6060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42847" cy="606096"/>
            </a:xfrm>
            <a:custGeom>
              <a:avLst/>
              <a:gdLst/>
              <a:ahLst/>
              <a:cxnLst/>
              <a:rect l="l" t="t" r="r" b="b"/>
              <a:pathLst>
                <a:path w="2442847" h="606096">
                  <a:moveTo>
                    <a:pt x="15712" y="0"/>
                  </a:moveTo>
                  <a:lnTo>
                    <a:pt x="2427135" y="0"/>
                  </a:lnTo>
                  <a:cubicBezTo>
                    <a:pt x="2431302" y="0"/>
                    <a:pt x="2435299" y="1655"/>
                    <a:pt x="2438245" y="4602"/>
                  </a:cubicBezTo>
                  <a:cubicBezTo>
                    <a:pt x="2441192" y="7548"/>
                    <a:pt x="2442847" y="11545"/>
                    <a:pt x="2442847" y="15712"/>
                  </a:cubicBezTo>
                  <a:lnTo>
                    <a:pt x="2442847" y="590384"/>
                  </a:lnTo>
                  <a:cubicBezTo>
                    <a:pt x="2442847" y="594551"/>
                    <a:pt x="2441192" y="598547"/>
                    <a:pt x="2438245" y="601494"/>
                  </a:cubicBezTo>
                  <a:cubicBezTo>
                    <a:pt x="2435299" y="604440"/>
                    <a:pt x="2431302" y="606096"/>
                    <a:pt x="2427135" y="606096"/>
                  </a:cubicBezTo>
                  <a:lnTo>
                    <a:pt x="15712" y="606096"/>
                  </a:lnTo>
                  <a:cubicBezTo>
                    <a:pt x="11545" y="606096"/>
                    <a:pt x="7548" y="604440"/>
                    <a:pt x="4602" y="601494"/>
                  </a:cubicBezTo>
                  <a:cubicBezTo>
                    <a:pt x="1655" y="598547"/>
                    <a:pt x="0" y="594551"/>
                    <a:pt x="0" y="590384"/>
                  </a:cubicBezTo>
                  <a:lnTo>
                    <a:pt x="0" y="15712"/>
                  </a:lnTo>
                  <a:cubicBezTo>
                    <a:pt x="0" y="11545"/>
                    <a:pt x="1655" y="7548"/>
                    <a:pt x="4602" y="4602"/>
                  </a:cubicBezTo>
                  <a:cubicBezTo>
                    <a:pt x="7548" y="1655"/>
                    <a:pt x="11545" y="0"/>
                    <a:pt x="15712" y="0"/>
                  </a:cubicBez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24920" y="1823406"/>
            <a:ext cx="1822999" cy="182299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395354" y="2393840"/>
            <a:ext cx="682130" cy="68213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335578" y="4238848"/>
            <a:ext cx="2235519" cy="1956080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22124" y="6566402"/>
            <a:ext cx="5599757" cy="100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-337">
                <a:solidFill>
                  <a:srgbClr val="101B40"/>
                </a:solidFill>
                <a:latin typeface="芫荽"/>
                <a:ea typeface="芫荽"/>
                <a:cs typeface="芫荽"/>
                <a:sym typeface="芫荽"/>
              </a:rPr>
              <a:t>結論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07323" y="7862321"/>
            <a:ext cx="13598459" cy="133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3200" i="1" u="none" strike="noStrike" spc="76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本系統將AI技術導入法律教育，讓申論題練習從「高成本、低效率</a:t>
            </a:r>
            <a:r>
              <a:rPr lang="en-US" sz="3200" i="1" u="none" strike="noStrike" spc="76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」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endParaRPr lang="en-US" sz="3200" i="1" u="none" strike="noStrike" spc="76" dirty="0">
              <a:solidFill>
                <a:srgbClr val="000000"/>
              </a:solidFill>
              <a:latin typeface="芫荽"/>
              <a:ea typeface="芫荽"/>
              <a:cs typeface="芫荽"/>
              <a:sym typeface="芫荽"/>
            </a:endParaRP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3200" i="1" u="none" strike="noStrike" spc="76" dirty="0" err="1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轉變為能「自主、即時、可視化、可追蹤」的學習過程</a:t>
            </a:r>
            <a:r>
              <a:rPr lang="en-US" sz="3200" i="1" u="none" strike="noStrike" spc="76" dirty="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50296" y="628301"/>
            <a:ext cx="1708381" cy="588932"/>
            <a:chOff x="0" y="0"/>
            <a:chExt cx="449944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944" cy="155110"/>
            </a:xfrm>
            <a:custGeom>
              <a:avLst/>
              <a:gdLst/>
              <a:ahLst/>
              <a:cxnLst/>
              <a:rect l="l" t="t" r="r" b="b"/>
              <a:pathLst>
                <a:path w="449944" h="155110">
                  <a:moveTo>
                    <a:pt x="77555" y="0"/>
                  </a:moveTo>
                  <a:lnTo>
                    <a:pt x="372389" y="0"/>
                  </a:lnTo>
                  <a:cubicBezTo>
                    <a:pt x="415221" y="0"/>
                    <a:pt x="449944" y="34722"/>
                    <a:pt x="449944" y="77555"/>
                  </a:cubicBezTo>
                  <a:lnTo>
                    <a:pt x="449944" y="77555"/>
                  </a:lnTo>
                  <a:cubicBezTo>
                    <a:pt x="449944" y="120387"/>
                    <a:pt x="415221" y="155110"/>
                    <a:pt x="372389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49944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OTHERS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28700" y="8277215"/>
            <a:ext cx="16230600" cy="981085"/>
            <a:chOff x="0" y="0"/>
            <a:chExt cx="4274726" cy="2583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74726" cy="258393"/>
            </a:xfrm>
            <a:custGeom>
              <a:avLst/>
              <a:gdLst/>
              <a:ahLst/>
              <a:cxnLst/>
              <a:rect l="l" t="t" r="r" b="b"/>
              <a:pathLst>
                <a:path w="4274726" h="258393">
                  <a:moveTo>
                    <a:pt x="12402" y="0"/>
                  </a:moveTo>
                  <a:lnTo>
                    <a:pt x="4262324" y="0"/>
                  </a:lnTo>
                  <a:cubicBezTo>
                    <a:pt x="4269174" y="0"/>
                    <a:pt x="4274726" y="5553"/>
                    <a:pt x="4274726" y="12402"/>
                  </a:cubicBezTo>
                  <a:lnTo>
                    <a:pt x="4274726" y="245991"/>
                  </a:lnTo>
                  <a:cubicBezTo>
                    <a:pt x="4274726" y="249280"/>
                    <a:pt x="4273419" y="252434"/>
                    <a:pt x="4271094" y="254760"/>
                  </a:cubicBezTo>
                  <a:cubicBezTo>
                    <a:pt x="4268768" y="257086"/>
                    <a:pt x="4265613" y="258393"/>
                    <a:pt x="4262324" y="258393"/>
                  </a:cubicBezTo>
                  <a:lnTo>
                    <a:pt x="12402" y="258393"/>
                  </a:lnTo>
                  <a:cubicBezTo>
                    <a:pt x="9113" y="258393"/>
                    <a:pt x="5958" y="257086"/>
                    <a:pt x="3632" y="254760"/>
                  </a:cubicBezTo>
                  <a:cubicBezTo>
                    <a:pt x="1307" y="252434"/>
                    <a:pt x="0" y="249280"/>
                    <a:pt x="0" y="245991"/>
                  </a:cubicBezTo>
                  <a:lnTo>
                    <a:pt x="0" y="12402"/>
                  </a:lnTo>
                  <a:cubicBezTo>
                    <a:pt x="0" y="9113"/>
                    <a:pt x="1307" y="5958"/>
                    <a:pt x="3632" y="3632"/>
                  </a:cubicBezTo>
                  <a:cubicBezTo>
                    <a:pt x="5958" y="1307"/>
                    <a:pt x="9113" y="0"/>
                    <a:pt x="12402" y="0"/>
                  </a:cubicBezTo>
                  <a:close/>
                </a:path>
              </a:pathLst>
            </a:custGeom>
            <a:solidFill>
              <a:srgbClr val="8FA4C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274726" cy="296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57066" y="8515238"/>
            <a:ext cx="4747340" cy="43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1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50520" y="8505713"/>
            <a:ext cx="4747340" cy="44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芫荽"/>
                <a:ea typeface="芫荽"/>
                <a:cs typeface="芫荽"/>
                <a:sym typeface="芫荽"/>
              </a:rPr>
              <a:t>高 嘉 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6029" y="8540152"/>
            <a:ext cx="1274721" cy="42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505249" y="2197912"/>
            <a:ext cx="2373670" cy="2373670"/>
          </a:xfrm>
          <a:custGeom>
            <a:avLst/>
            <a:gdLst/>
            <a:ahLst/>
            <a:cxnLst/>
            <a:rect l="l" t="t" r="r" b="b"/>
            <a:pathLst>
              <a:path w="2373670" h="2373670">
                <a:moveTo>
                  <a:pt x="0" y="0"/>
                </a:moveTo>
                <a:lnTo>
                  <a:pt x="2373670" y="0"/>
                </a:lnTo>
                <a:lnTo>
                  <a:pt x="2373670" y="2373670"/>
                </a:lnTo>
                <a:lnTo>
                  <a:pt x="0" y="23736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2842269" y="4396782"/>
            <a:ext cx="12603462" cy="108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8532" b="1" spc="-494">
                <a:solidFill>
                  <a:srgbClr val="101B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 for listening</a:t>
            </a:r>
            <a:r>
              <a:rPr lang="en-US" sz="8532" spc="-494">
                <a:solidFill>
                  <a:srgbClr val="101B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grpSp>
        <p:nvGrpSpPr>
          <p:cNvPr id="21" name="Group 21"/>
          <p:cNvGrpSpPr/>
          <p:nvPr/>
        </p:nvGrpSpPr>
        <p:grpSpPr>
          <a:xfrm rot="-5400000">
            <a:off x="210776" y="5585226"/>
            <a:ext cx="3075708" cy="776477"/>
            <a:chOff x="0" y="0"/>
            <a:chExt cx="810063" cy="2045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0063" cy="204504"/>
            </a:xfrm>
            <a:custGeom>
              <a:avLst/>
              <a:gdLst/>
              <a:ahLst/>
              <a:cxnLst/>
              <a:rect l="l" t="t" r="r" b="b"/>
              <a:pathLst>
                <a:path w="810063" h="204504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5400000">
            <a:off x="1458033" y="4571582"/>
            <a:ext cx="581194" cy="581194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15100104" y="3188832"/>
            <a:ext cx="3075708" cy="776477"/>
            <a:chOff x="0" y="0"/>
            <a:chExt cx="810063" cy="20450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0063" cy="204504"/>
            </a:xfrm>
            <a:custGeom>
              <a:avLst/>
              <a:gdLst/>
              <a:ahLst/>
              <a:cxnLst/>
              <a:rect l="l" t="t" r="r" b="b"/>
              <a:pathLst>
                <a:path w="810063" h="204504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5400000">
            <a:off x="16347361" y="4397760"/>
            <a:ext cx="581194" cy="581194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7706217" y="96894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920692" y="3103021"/>
            <a:ext cx="6467837" cy="103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6"/>
              </a:lnSpc>
              <a:spcBef>
                <a:spcPct val="0"/>
              </a:spcBef>
            </a:pPr>
            <a:r>
              <a:rPr lang="en-US" sz="5811" b="1" spc="-337">
                <a:solidFill>
                  <a:srgbClr val="101B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Q&amp;A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17073" y="5483879"/>
            <a:ext cx="7853853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5"/>
              </a:lnSpc>
            </a:pPr>
            <a:r>
              <a:rPr lang="en-US" sz="3899" spc="-2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 AI  make  legal  learning  smarter 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62F06F3703613041B190F28045893846" ma:contentTypeVersion="3" ma:contentTypeDescription="建立新的文件。" ma:contentTypeScope="" ma:versionID="8d3b21c73974ed9fae5e6a835242f1f0">
  <xsd:schema xmlns:xsd="http://www.w3.org/2001/XMLSchema" xmlns:xs="http://www.w3.org/2001/XMLSchema" xmlns:p="http://schemas.microsoft.com/office/2006/metadata/properties" xmlns:ns3="7a3d8edb-4190-4b32-a34a-6a0d67a00bc1" targetNamespace="http://schemas.microsoft.com/office/2006/metadata/properties" ma:root="true" ma:fieldsID="c86b612c62836bf903e4a9e4e5340978" ns3:_="">
    <xsd:import namespace="7a3d8edb-4190-4b32-a34a-6a0d67a00bc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3d8edb-4190-4b32-a34a-6a0d67a00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7ACD4A7-2D46-402C-9925-B138888A66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99C430-B92E-4408-8048-E98A2C4178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3d8edb-4190-4b32-a34a-6a0d67a00b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D1B8E1-91F8-48B7-B6DC-258B8A244B79}">
  <ds:schemaRefs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  <ds:schemaRef ds:uri="7a3d8edb-4190-4b32-a34a-6a0d67a00bc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417</Words>
  <Application>Microsoft Office PowerPoint</Application>
  <PresentationFormat>自訂</PresentationFormat>
  <Paragraphs>208</Paragraphs>
  <Slides>16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芫荽</vt:lpstr>
      <vt:lpstr>Times New Roman Bold</vt:lpstr>
      <vt:lpstr>Montserrat Bold</vt:lpstr>
      <vt:lpstr>Montserrat</vt:lpstr>
      <vt:lpstr>Times New Roman</vt:lpstr>
      <vt:lpstr>Calibri</vt:lpstr>
      <vt:lpstr>Arial</vt:lpstr>
      <vt:lpstr>Noto Sans T Chinese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專題Presentation</dc:title>
  <dc:creator>User</dc:creator>
  <cp:lastModifiedBy>ko A</cp:lastModifiedBy>
  <cp:revision>4</cp:revision>
  <dcterms:created xsi:type="dcterms:W3CDTF">2006-08-16T00:00:00Z</dcterms:created>
  <dcterms:modified xsi:type="dcterms:W3CDTF">2025-12-25T14:03:24Z</dcterms:modified>
  <dc:identifier>DAG67k0e5cQ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0x01010062F06F3703613041B190F28045893846</vt:lpwstr>
  </property>
</Properties>
</file>